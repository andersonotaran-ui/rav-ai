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57" r:id="rId5"/>
    <p:sldId id="297" r:id="rId6"/>
    <p:sldId id="302" r:id="rId7"/>
    <p:sldId id="265" r:id="rId8"/>
    <p:sldId id="266" r:id="rId9"/>
    <p:sldId id="258" r:id="rId10"/>
    <p:sldId id="300" r:id="rId11"/>
    <p:sldId id="301" r:id="rId12"/>
    <p:sldId id="269" r:id="rId13"/>
    <p:sldId id="268" r:id="rId14"/>
    <p:sldId id="298" r:id="rId15"/>
    <p:sldId id="275" r:id="rId16"/>
    <p:sldId id="277" r:id="rId17"/>
    <p:sldId id="276" r:id="rId18"/>
    <p:sldId id="278" r:id="rId19"/>
    <p:sldId id="305" r:id="rId20"/>
    <p:sldId id="295" r:id="rId21"/>
    <p:sldId id="303" r:id="rId22"/>
    <p:sldId id="304" r:id="rId23"/>
    <p:sldId id="279" r:id="rId24"/>
    <p:sldId id="287" r:id="rId25"/>
    <p:sldId id="280" r:id="rId26"/>
    <p:sldId id="288" r:id="rId27"/>
    <p:sldId id="289" r:id="rId28"/>
    <p:sldId id="281" r:id="rId29"/>
    <p:sldId id="282" r:id="rId30"/>
    <p:sldId id="283" r:id="rId31"/>
    <p:sldId id="284" r:id="rId32"/>
    <p:sldId id="290" r:id="rId33"/>
    <p:sldId id="291" r:id="rId34"/>
    <p:sldId id="292" r:id="rId35"/>
    <p:sldId id="285" r:id="rId36"/>
    <p:sldId id="271" r:id="rId37"/>
    <p:sldId id="272" r:id="rId38"/>
    <p:sldId id="273" r:id="rId39"/>
    <p:sldId id="286" r:id="rId40"/>
    <p:sldId id="296" r:id="rId41"/>
    <p:sldId id="294" r:id="rId4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60"/>
  </p:normalViewPr>
  <p:slideViewPr>
    <p:cSldViewPr>
      <p:cViewPr varScale="1">
        <p:scale>
          <a:sx n="78" d="100"/>
          <a:sy n="78" d="100"/>
        </p:scale>
        <p:origin x="79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0" d="100"/>
          <a:sy n="90" d="100"/>
        </p:scale>
        <p:origin x="23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92BED6-8E59-4BA9-91A9-8C9A21B1054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1181990E-440E-4621-9FD5-DCC6B1EA25AF}">
      <dgm:prSet phldrT="[Texto]"/>
      <dgm:spPr/>
      <dgm:t>
        <a:bodyPr/>
        <a:lstStyle/>
        <a:p>
          <a:r>
            <a:rPr lang="pt-BR" dirty="0"/>
            <a:t>Identificação</a:t>
          </a:r>
        </a:p>
      </dgm:t>
    </dgm:pt>
    <dgm:pt modelId="{74C67F4F-2061-45F2-90E9-051078DD257F}" type="parTrans" cxnId="{46D1037A-2CEB-4D29-97AF-BEA9D672F241}">
      <dgm:prSet/>
      <dgm:spPr/>
      <dgm:t>
        <a:bodyPr/>
        <a:lstStyle/>
        <a:p>
          <a:endParaRPr lang="pt-BR"/>
        </a:p>
      </dgm:t>
    </dgm:pt>
    <dgm:pt modelId="{23BAFE60-C0C6-4A29-93D2-1CEB1DBB97D1}" type="sibTrans" cxnId="{46D1037A-2CEB-4D29-97AF-BEA9D672F241}">
      <dgm:prSet/>
      <dgm:spPr/>
      <dgm:t>
        <a:bodyPr/>
        <a:lstStyle/>
        <a:p>
          <a:endParaRPr lang="pt-BR"/>
        </a:p>
      </dgm:t>
    </dgm:pt>
    <dgm:pt modelId="{96730CA6-B8C5-4EC6-9AE9-4E5CB83CBA84}">
      <dgm:prSet phldrT="[Texto]"/>
      <dgm:spPr/>
      <dgm:t>
        <a:bodyPr/>
        <a:lstStyle/>
        <a:p>
          <a:r>
            <a:rPr lang="pt-BR" dirty="0"/>
            <a:t>Propostas</a:t>
          </a:r>
        </a:p>
      </dgm:t>
    </dgm:pt>
    <dgm:pt modelId="{DBBD3D7C-5C97-4863-8FD7-BF97FD94E70F}" type="parTrans" cxnId="{6E3AF960-98AC-442C-82C1-0EEE5521C2B2}">
      <dgm:prSet/>
      <dgm:spPr/>
      <dgm:t>
        <a:bodyPr/>
        <a:lstStyle/>
        <a:p>
          <a:endParaRPr lang="pt-BR"/>
        </a:p>
      </dgm:t>
    </dgm:pt>
    <dgm:pt modelId="{09C47F51-ECAC-4A79-AA1B-883548617681}" type="sibTrans" cxnId="{6E3AF960-98AC-442C-82C1-0EEE5521C2B2}">
      <dgm:prSet/>
      <dgm:spPr/>
      <dgm:t>
        <a:bodyPr/>
        <a:lstStyle/>
        <a:p>
          <a:endParaRPr lang="pt-BR"/>
        </a:p>
      </dgm:t>
    </dgm:pt>
    <dgm:pt modelId="{895EDF13-CD79-42C4-81F9-B098DFAAC5C5}">
      <dgm:prSet phldrT="[Texto]"/>
      <dgm:spPr/>
      <dgm:t>
        <a:bodyPr/>
        <a:lstStyle/>
        <a:p>
          <a:r>
            <a:rPr lang="pt-BR" dirty="0"/>
            <a:t>Análise</a:t>
          </a:r>
        </a:p>
      </dgm:t>
    </dgm:pt>
    <dgm:pt modelId="{267D707F-84A2-41A6-85A4-6A9846A7D2B9}" type="parTrans" cxnId="{19DFA516-1BA7-4207-B623-B1DE91610521}">
      <dgm:prSet/>
      <dgm:spPr/>
      <dgm:t>
        <a:bodyPr/>
        <a:lstStyle/>
        <a:p>
          <a:endParaRPr lang="pt-BR"/>
        </a:p>
      </dgm:t>
    </dgm:pt>
    <dgm:pt modelId="{62B83D56-15A9-48F9-9275-16C0E9AF6343}" type="sibTrans" cxnId="{19DFA516-1BA7-4207-B623-B1DE91610521}">
      <dgm:prSet/>
      <dgm:spPr/>
      <dgm:t>
        <a:bodyPr/>
        <a:lstStyle/>
        <a:p>
          <a:endParaRPr lang="pt-BR"/>
        </a:p>
      </dgm:t>
    </dgm:pt>
    <dgm:pt modelId="{AEB1185E-08F1-439F-BD3F-697C74DFD147}" type="pres">
      <dgm:prSet presAssocID="{6A92BED6-8E59-4BA9-91A9-8C9A21B10543}" presName="compositeShape" presStyleCnt="0">
        <dgm:presLayoutVars>
          <dgm:chMax val="7"/>
          <dgm:dir/>
          <dgm:resizeHandles val="exact"/>
        </dgm:presLayoutVars>
      </dgm:prSet>
      <dgm:spPr/>
    </dgm:pt>
    <dgm:pt modelId="{BE633A5C-1DCD-4B33-A15F-E223B7773985}" type="pres">
      <dgm:prSet presAssocID="{1181990E-440E-4621-9FD5-DCC6B1EA25AF}" presName="circ1" presStyleLbl="vennNode1" presStyleIdx="0" presStyleCnt="3"/>
      <dgm:spPr/>
    </dgm:pt>
    <dgm:pt modelId="{B9309595-973C-43D8-861A-73CBFB845B76}" type="pres">
      <dgm:prSet presAssocID="{1181990E-440E-4621-9FD5-DCC6B1EA25A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4723A03-3062-4038-A6B8-FB938A34670B}" type="pres">
      <dgm:prSet presAssocID="{96730CA6-B8C5-4EC6-9AE9-4E5CB83CBA84}" presName="circ2" presStyleLbl="vennNode1" presStyleIdx="1" presStyleCnt="3"/>
      <dgm:spPr/>
    </dgm:pt>
    <dgm:pt modelId="{67E002B5-A016-4673-B1AC-6D472BD056F9}" type="pres">
      <dgm:prSet presAssocID="{96730CA6-B8C5-4EC6-9AE9-4E5CB83CBA8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674813-E617-4674-A56D-6F3E0499B25A}" type="pres">
      <dgm:prSet presAssocID="{895EDF13-CD79-42C4-81F9-B098DFAAC5C5}" presName="circ3" presStyleLbl="vennNode1" presStyleIdx="2" presStyleCnt="3" custLinFactNeighborX="1920" custLinFactNeighborY="1032"/>
      <dgm:spPr/>
    </dgm:pt>
    <dgm:pt modelId="{A0484A07-7733-48BC-9915-7451F6B5239D}" type="pres">
      <dgm:prSet presAssocID="{895EDF13-CD79-42C4-81F9-B098DFAAC5C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9D76501-6D84-4C5E-8BFE-5DDCB2CCD517}" type="presOf" srcId="{6A92BED6-8E59-4BA9-91A9-8C9A21B10543}" destId="{AEB1185E-08F1-439F-BD3F-697C74DFD147}" srcOrd="0" destOrd="0" presId="urn:microsoft.com/office/officeart/2005/8/layout/venn1"/>
    <dgm:cxn modelId="{52B67602-6DFA-41B3-BEDE-2288E664F24B}" type="presOf" srcId="{96730CA6-B8C5-4EC6-9AE9-4E5CB83CBA84}" destId="{67E002B5-A016-4673-B1AC-6D472BD056F9}" srcOrd="1" destOrd="0" presId="urn:microsoft.com/office/officeart/2005/8/layout/venn1"/>
    <dgm:cxn modelId="{19DFA516-1BA7-4207-B623-B1DE91610521}" srcId="{6A92BED6-8E59-4BA9-91A9-8C9A21B10543}" destId="{895EDF13-CD79-42C4-81F9-B098DFAAC5C5}" srcOrd="2" destOrd="0" parTransId="{267D707F-84A2-41A6-85A4-6A9846A7D2B9}" sibTransId="{62B83D56-15A9-48F9-9275-16C0E9AF6343}"/>
    <dgm:cxn modelId="{6E3AF960-98AC-442C-82C1-0EEE5521C2B2}" srcId="{6A92BED6-8E59-4BA9-91A9-8C9A21B10543}" destId="{96730CA6-B8C5-4EC6-9AE9-4E5CB83CBA84}" srcOrd="1" destOrd="0" parTransId="{DBBD3D7C-5C97-4863-8FD7-BF97FD94E70F}" sibTransId="{09C47F51-ECAC-4A79-AA1B-883548617681}"/>
    <dgm:cxn modelId="{AC039F6C-8A82-47F4-8E0F-05F5500CBCDE}" type="presOf" srcId="{895EDF13-CD79-42C4-81F9-B098DFAAC5C5}" destId="{33674813-E617-4674-A56D-6F3E0499B25A}" srcOrd="0" destOrd="0" presId="urn:microsoft.com/office/officeart/2005/8/layout/venn1"/>
    <dgm:cxn modelId="{93126C70-EA50-4772-8A9D-BD2864DB8DB4}" type="presOf" srcId="{895EDF13-CD79-42C4-81F9-B098DFAAC5C5}" destId="{A0484A07-7733-48BC-9915-7451F6B5239D}" srcOrd="1" destOrd="0" presId="urn:microsoft.com/office/officeart/2005/8/layout/venn1"/>
    <dgm:cxn modelId="{46D1037A-2CEB-4D29-97AF-BEA9D672F241}" srcId="{6A92BED6-8E59-4BA9-91A9-8C9A21B10543}" destId="{1181990E-440E-4621-9FD5-DCC6B1EA25AF}" srcOrd="0" destOrd="0" parTransId="{74C67F4F-2061-45F2-90E9-051078DD257F}" sibTransId="{23BAFE60-C0C6-4A29-93D2-1CEB1DBB97D1}"/>
    <dgm:cxn modelId="{E9CF05A1-A37C-4F3A-B295-6F6C04F0B9C3}" type="presOf" srcId="{1181990E-440E-4621-9FD5-DCC6B1EA25AF}" destId="{BE633A5C-1DCD-4B33-A15F-E223B7773985}" srcOrd="0" destOrd="0" presId="urn:microsoft.com/office/officeart/2005/8/layout/venn1"/>
    <dgm:cxn modelId="{598F83B7-8F27-4D5C-9140-0C4C40083620}" type="presOf" srcId="{96730CA6-B8C5-4EC6-9AE9-4E5CB83CBA84}" destId="{C4723A03-3062-4038-A6B8-FB938A34670B}" srcOrd="0" destOrd="0" presId="urn:microsoft.com/office/officeart/2005/8/layout/venn1"/>
    <dgm:cxn modelId="{4315F9D0-CD05-44F5-9077-FC28B73472E3}" type="presOf" srcId="{1181990E-440E-4621-9FD5-DCC6B1EA25AF}" destId="{B9309595-973C-43D8-861A-73CBFB845B76}" srcOrd="1" destOrd="0" presId="urn:microsoft.com/office/officeart/2005/8/layout/venn1"/>
    <dgm:cxn modelId="{ABDD925D-4DAB-4377-B4DB-AD3D58B5065E}" type="presParOf" srcId="{AEB1185E-08F1-439F-BD3F-697C74DFD147}" destId="{BE633A5C-1DCD-4B33-A15F-E223B7773985}" srcOrd="0" destOrd="0" presId="urn:microsoft.com/office/officeart/2005/8/layout/venn1"/>
    <dgm:cxn modelId="{7B7086EE-4B58-423F-BDE8-81A4F5B469C9}" type="presParOf" srcId="{AEB1185E-08F1-439F-BD3F-697C74DFD147}" destId="{B9309595-973C-43D8-861A-73CBFB845B76}" srcOrd="1" destOrd="0" presId="urn:microsoft.com/office/officeart/2005/8/layout/venn1"/>
    <dgm:cxn modelId="{1949D16C-0B60-4EF5-BA9F-93A75EBA1455}" type="presParOf" srcId="{AEB1185E-08F1-439F-BD3F-697C74DFD147}" destId="{C4723A03-3062-4038-A6B8-FB938A34670B}" srcOrd="2" destOrd="0" presId="urn:microsoft.com/office/officeart/2005/8/layout/venn1"/>
    <dgm:cxn modelId="{D198CCF1-4DAD-4A6C-98D1-58E77733EF48}" type="presParOf" srcId="{AEB1185E-08F1-439F-BD3F-697C74DFD147}" destId="{67E002B5-A016-4673-B1AC-6D472BD056F9}" srcOrd="3" destOrd="0" presId="urn:microsoft.com/office/officeart/2005/8/layout/venn1"/>
    <dgm:cxn modelId="{D3112A4C-953E-4751-9C4F-2AB44F5AE6DE}" type="presParOf" srcId="{AEB1185E-08F1-439F-BD3F-697C74DFD147}" destId="{33674813-E617-4674-A56D-6F3E0499B25A}" srcOrd="4" destOrd="0" presId="urn:microsoft.com/office/officeart/2005/8/layout/venn1"/>
    <dgm:cxn modelId="{329061EA-5873-4B6E-B66B-FB4AE1F812AD}" type="presParOf" srcId="{AEB1185E-08F1-439F-BD3F-697C74DFD147}" destId="{A0484A07-7733-48BC-9915-7451F6B5239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A84C27-7AB0-4EAA-A9DB-BF76652D210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3064D4-21F7-4DA3-90FC-3D6390F797DD}">
      <dgm:prSet phldrT="[Texto]"/>
      <dgm:spPr/>
      <dgm:t>
        <a:bodyPr/>
        <a:lstStyle/>
        <a:p>
          <a:r>
            <a:rPr lang="pt-BR" dirty="0"/>
            <a:t>Avanços</a:t>
          </a:r>
        </a:p>
      </dgm:t>
    </dgm:pt>
    <dgm:pt modelId="{E40A0348-F24B-4FAE-95C5-44F002432170}" type="parTrans" cxnId="{30B3A097-CB46-4F8E-AFC4-5B98766F3234}">
      <dgm:prSet/>
      <dgm:spPr/>
      <dgm:t>
        <a:bodyPr/>
        <a:lstStyle/>
        <a:p>
          <a:endParaRPr lang="pt-BR"/>
        </a:p>
      </dgm:t>
    </dgm:pt>
    <dgm:pt modelId="{1A16E9D8-9DE6-4C34-A0B8-BFBFA3DB72D5}" type="sibTrans" cxnId="{30B3A097-CB46-4F8E-AFC4-5B98766F3234}">
      <dgm:prSet/>
      <dgm:spPr/>
      <dgm:t>
        <a:bodyPr/>
        <a:lstStyle/>
        <a:p>
          <a:endParaRPr lang="pt-BR"/>
        </a:p>
      </dgm:t>
    </dgm:pt>
    <dgm:pt modelId="{3BD11FF8-F1AB-48C2-BBA4-B0AC079CD332}">
      <dgm:prSet phldrT="[Texto]"/>
      <dgm:spPr/>
      <dgm:t>
        <a:bodyPr/>
        <a:lstStyle/>
        <a:p>
          <a:r>
            <a:rPr lang="pt-BR" dirty="0"/>
            <a:t>Dificuldades</a:t>
          </a:r>
        </a:p>
      </dgm:t>
    </dgm:pt>
    <dgm:pt modelId="{1CCE2CA4-981D-4DE9-A4EC-E79779BAC964}" type="parTrans" cxnId="{0E98B232-EB58-46C9-9C81-B7483CA69E14}">
      <dgm:prSet/>
      <dgm:spPr/>
      <dgm:t>
        <a:bodyPr/>
        <a:lstStyle/>
        <a:p>
          <a:endParaRPr lang="pt-BR"/>
        </a:p>
      </dgm:t>
    </dgm:pt>
    <dgm:pt modelId="{9DC0CA8E-9158-4249-AE7A-3E45C6F95C92}" type="sibTrans" cxnId="{0E98B232-EB58-46C9-9C81-B7483CA69E14}">
      <dgm:prSet/>
      <dgm:spPr/>
      <dgm:t>
        <a:bodyPr/>
        <a:lstStyle/>
        <a:p>
          <a:endParaRPr lang="pt-BR"/>
        </a:p>
      </dgm:t>
    </dgm:pt>
    <dgm:pt modelId="{97BEEDD9-BE0C-49BD-A161-C722332EA59A}">
      <dgm:prSet phldrT="[Texto]"/>
      <dgm:spPr/>
      <dgm:t>
        <a:bodyPr/>
        <a:lstStyle/>
        <a:p>
          <a:r>
            <a:rPr lang="pt-BR" dirty="0"/>
            <a:t>Estratégias</a:t>
          </a:r>
        </a:p>
      </dgm:t>
    </dgm:pt>
    <dgm:pt modelId="{9C159D8A-602C-43CB-A547-A6C73FBCAE31}" type="parTrans" cxnId="{1649080E-49A8-44E6-BC22-5CF6AC494B7B}">
      <dgm:prSet/>
      <dgm:spPr/>
      <dgm:t>
        <a:bodyPr/>
        <a:lstStyle/>
        <a:p>
          <a:endParaRPr lang="pt-BR"/>
        </a:p>
      </dgm:t>
    </dgm:pt>
    <dgm:pt modelId="{B3816D69-C5FB-4CFB-A156-43FC8FD4173B}" type="sibTrans" cxnId="{1649080E-49A8-44E6-BC22-5CF6AC494B7B}">
      <dgm:prSet/>
      <dgm:spPr/>
      <dgm:t>
        <a:bodyPr/>
        <a:lstStyle/>
        <a:p>
          <a:endParaRPr lang="pt-BR"/>
        </a:p>
      </dgm:t>
    </dgm:pt>
    <dgm:pt modelId="{53317DD4-978A-4213-A1E9-FB95745AAD10}" type="pres">
      <dgm:prSet presAssocID="{4AA84C27-7AB0-4EAA-A9DB-BF76652D210C}" presName="rootnode" presStyleCnt="0">
        <dgm:presLayoutVars>
          <dgm:chMax/>
          <dgm:chPref/>
          <dgm:dir/>
          <dgm:animLvl val="lvl"/>
        </dgm:presLayoutVars>
      </dgm:prSet>
      <dgm:spPr/>
    </dgm:pt>
    <dgm:pt modelId="{882E1648-CFF4-4269-ADBE-372CE0F8C7F4}" type="pres">
      <dgm:prSet presAssocID="{5C3064D4-21F7-4DA3-90FC-3D6390F797DD}" presName="composite" presStyleCnt="0"/>
      <dgm:spPr/>
    </dgm:pt>
    <dgm:pt modelId="{1EAEC098-7F04-499C-BE8B-2701C0F5ED15}" type="pres">
      <dgm:prSet presAssocID="{5C3064D4-21F7-4DA3-90FC-3D6390F797DD}" presName="bentUpArrow1" presStyleLbl="alignImgPlace1" presStyleIdx="0" presStyleCnt="2"/>
      <dgm:spPr/>
    </dgm:pt>
    <dgm:pt modelId="{538F4983-C3D4-4EBC-AAED-E2105AE7FE15}" type="pres">
      <dgm:prSet presAssocID="{5C3064D4-21F7-4DA3-90FC-3D6390F797DD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DAE66A22-6BD7-4490-914D-B5528619FD3C}" type="pres">
      <dgm:prSet presAssocID="{5C3064D4-21F7-4DA3-90FC-3D6390F797DD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E1AECCCB-4E6A-4C8B-AFC8-A77B988BA22D}" type="pres">
      <dgm:prSet presAssocID="{1A16E9D8-9DE6-4C34-A0B8-BFBFA3DB72D5}" presName="sibTrans" presStyleCnt="0"/>
      <dgm:spPr/>
    </dgm:pt>
    <dgm:pt modelId="{14F04D47-C808-44BA-9BD0-986E0BA76572}" type="pres">
      <dgm:prSet presAssocID="{3BD11FF8-F1AB-48C2-BBA4-B0AC079CD332}" presName="composite" presStyleCnt="0"/>
      <dgm:spPr/>
    </dgm:pt>
    <dgm:pt modelId="{63AEBB9C-0CAA-4856-99DD-58F440C4F2AC}" type="pres">
      <dgm:prSet presAssocID="{3BD11FF8-F1AB-48C2-BBA4-B0AC079CD332}" presName="bentUpArrow1" presStyleLbl="alignImgPlace1" presStyleIdx="1" presStyleCnt="2"/>
      <dgm:spPr/>
    </dgm:pt>
    <dgm:pt modelId="{1B4D2E71-1DA3-4B27-B4FB-F3357823903E}" type="pres">
      <dgm:prSet presAssocID="{3BD11FF8-F1AB-48C2-BBA4-B0AC079CD332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6FE0065-A0A8-4FE8-9752-39900C4D4BAC}" type="pres">
      <dgm:prSet presAssocID="{3BD11FF8-F1AB-48C2-BBA4-B0AC079CD332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3317291-5FEC-41EE-B0A3-C9A8072C4AC8}" type="pres">
      <dgm:prSet presAssocID="{9DC0CA8E-9158-4249-AE7A-3E45C6F95C92}" presName="sibTrans" presStyleCnt="0"/>
      <dgm:spPr/>
    </dgm:pt>
    <dgm:pt modelId="{1DC7EAAA-E3DD-48D6-AB86-A4177F6636A8}" type="pres">
      <dgm:prSet presAssocID="{97BEEDD9-BE0C-49BD-A161-C722332EA59A}" presName="composite" presStyleCnt="0"/>
      <dgm:spPr/>
    </dgm:pt>
    <dgm:pt modelId="{B0A1438A-98D1-42E1-AA57-E7BF0E3F8A7F}" type="pres">
      <dgm:prSet presAssocID="{97BEEDD9-BE0C-49BD-A161-C722332EA59A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1649080E-49A8-44E6-BC22-5CF6AC494B7B}" srcId="{4AA84C27-7AB0-4EAA-A9DB-BF76652D210C}" destId="{97BEEDD9-BE0C-49BD-A161-C722332EA59A}" srcOrd="2" destOrd="0" parTransId="{9C159D8A-602C-43CB-A547-A6C73FBCAE31}" sibTransId="{B3816D69-C5FB-4CFB-A156-43FC8FD4173B}"/>
    <dgm:cxn modelId="{902B722C-6DF6-4E64-95AB-A90A9B758CD9}" type="presOf" srcId="{5C3064D4-21F7-4DA3-90FC-3D6390F797DD}" destId="{538F4983-C3D4-4EBC-AAED-E2105AE7FE15}" srcOrd="0" destOrd="0" presId="urn:microsoft.com/office/officeart/2005/8/layout/StepDownProcess"/>
    <dgm:cxn modelId="{0E98B232-EB58-46C9-9C81-B7483CA69E14}" srcId="{4AA84C27-7AB0-4EAA-A9DB-BF76652D210C}" destId="{3BD11FF8-F1AB-48C2-BBA4-B0AC079CD332}" srcOrd="1" destOrd="0" parTransId="{1CCE2CA4-981D-4DE9-A4EC-E79779BAC964}" sibTransId="{9DC0CA8E-9158-4249-AE7A-3E45C6F95C92}"/>
    <dgm:cxn modelId="{A46B405C-E949-4B06-9348-45D50165815E}" type="presOf" srcId="{97BEEDD9-BE0C-49BD-A161-C722332EA59A}" destId="{B0A1438A-98D1-42E1-AA57-E7BF0E3F8A7F}" srcOrd="0" destOrd="0" presId="urn:microsoft.com/office/officeart/2005/8/layout/StepDownProcess"/>
    <dgm:cxn modelId="{30B3A097-CB46-4F8E-AFC4-5B98766F3234}" srcId="{4AA84C27-7AB0-4EAA-A9DB-BF76652D210C}" destId="{5C3064D4-21F7-4DA3-90FC-3D6390F797DD}" srcOrd="0" destOrd="0" parTransId="{E40A0348-F24B-4FAE-95C5-44F002432170}" sibTransId="{1A16E9D8-9DE6-4C34-A0B8-BFBFA3DB72D5}"/>
    <dgm:cxn modelId="{1B363BAE-05B2-452D-8DBE-A89EEF404E8A}" type="presOf" srcId="{3BD11FF8-F1AB-48C2-BBA4-B0AC079CD332}" destId="{1B4D2E71-1DA3-4B27-B4FB-F3357823903E}" srcOrd="0" destOrd="0" presId="urn:microsoft.com/office/officeart/2005/8/layout/StepDownProcess"/>
    <dgm:cxn modelId="{0E1B08B9-D69F-41B9-B1C9-E15EF7BA68AE}" type="presOf" srcId="{4AA84C27-7AB0-4EAA-A9DB-BF76652D210C}" destId="{53317DD4-978A-4213-A1E9-FB95745AAD10}" srcOrd="0" destOrd="0" presId="urn:microsoft.com/office/officeart/2005/8/layout/StepDownProcess"/>
    <dgm:cxn modelId="{E854A2A3-79D1-41C7-8EB7-C3816FB4B1CC}" type="presParOf" srcId="{53317DD4-978A-4213-A1E9-FB95745AAD10}" destId="{882E1648-CFF4-4269-ADBE-372CE0F8C7F4}" srcOrd="0" destOrd="0" presId="urn:microsoft.com/office/officeart/2005/8/layout/StepDownProcess"/>
    <dgm:cxn modelId="{9A0AC25E-1F69-4EA0-B3B9-8CD998B81996}" type="presParOf" srcId="{882E1648-CFF4-4269-ADBE-372CE0F8C7F4}" destId="{1EAEC098-7F04-499C-BE8B-2701C0F5ED15}" srcOrd="0" destOrd="0" presId="urn:microsoft.com/office/officeart/2005/8/layout/StepDownProcess"/>
    <dgm:cxn modelId="{D80571FD-C067-4513-BD1E-A6A97F33535E}" type="presParOf" srcId="{882E1648-CFF4-4269-ADBE-372CE0F8C7F4}" destId="{538F4983-C3D4-4EBC-AAED-E2105AE7FE15}" srcOrd="1" destOrd="0" presId="urn:microsoft.com/office/officeart/2005/8/layout/StepDownProcess"/>
    <dgm:cxn modelId="{35539A41-2CD8-42E8-9673-E9E070855619}" type="presParOf" srcId="{882E1648-CFF4-4269-ADBE-372CE0F8C7F4}" destId="{DAE66A22-6BD7-4490-914D-B5528619FD3C}" srcOrd="2" destOrd="0" presId="urn:microsoft.com/office/officeart/2005/8/layout/StepDownProcess"/>
    <dgm:cxn modelId="{F700F99C-EF46-48B8-A9CC-AA1534BD9C0D}" type="presParOf" srcId="{53317DD4-978A-4213-A1E9-FB95745AAD10}" destId="{E1AECCCB-4E6A-4C8B-AFC8-A77B988BA22D}" srcOrd="1" destOrd="0" presId="urn:microsoft.com/office/officeart/2005/8/layout/StepDownProcess"/>
    <dgm:cxn modelId="{11AB0C9C-388D-42A9-A653-5BB1657DC0AF}" type="presParOf" srcId="{53317DD4-978A-4213-A1E9-FB95745AAD10}" destId="{14F04D47-C808-44BA-9BD0-986E0BA76572}" srcOrd="2" destOrd="0" presId="urn:microsoft.com/office/officeart/2005/8/layout/StepDownProcess"/>
    <dgm:cxn modelId="{0FEB5BA0-07FB-484F-9859-2F8BF97249FD}" type="presParOf" srcId="{14F04D47-C808-44BA-9BD0-986E0BA76572}" destId="{63AEBB9C-0CAA-4856-99DD-58F440C4F2AC}" srcOrd="0" destOrd="0" presId="urn:microsoft.com/office/officeart/2005/8/layout/StepDownProcess"/>
    <dgm:cxn modelId="{6D66B031-6097-43EA-BE23-30536C304A8D}" type="presParOf" srcId="{14F04D47-C808-44BA-9BD0-986E0BA76572}" destId="{1B4D2E71-1DA3-4B27-B4FB-F3357823903E}" srcOrd="1" destOrd="0" presId="urn:microsoft.com/office/officeart/2005/8/layout/StepDownProcess"/>
    <dgm:cxn modelId="{45CE956E-1679-4A88-8034-EC9C9DBFC832}" type="presParOf" srcId="{14F04D47-C808-44BA-9BD0-986E0BA76572}" destId="{06FE0065-A0A8-4FE8-9752-39900C4D4BAC}" srcOrd="2" destOrd="0" presId="urn:microsoft.com/office/officeart/2005/8/layout/StepDownProcess"/>
    <dgm:cxn modelId="{A103BE74-9764-469F-BBD6-19D06A7D4A68}" type="presParOf" srcId="{53317DD4-978A-4213-A1E9-FB95745AAD10}" destId="{83317291-5FEC-41EE-B0A3-C9A8072C4AC8}" srcOrd="3" destOrd="0" presId="urn:microsoft.com/office/officeart/2005/8/layout/StepDownProcess"/>
    <dgm:cxn modelId="{4F56AB1D-AB3D-429C-8CAE-B36C75ADC93B}" type="presParOf" srcId="{53317DD4-978A-4213-A1E9-FB95745AAD10}" destId="{1DC7EAAA-E3DD-48D6-AB86-A4177F6636A8}" srcOrd="4" destOrd="0" presId="urn:microsoft.com/office/officeart/2005/8/layout/StepDownProcess"/>
    <dgm:cxn modelId="{5D2020F9-8726-4433-9F55-B0607DA45EFB}" type="presParOf" srcId="{1DC7EAAA-E3DD-48D6-AB86-A4177F6636A8}" destId="{B0A1438A-98D1-42E1-AA57-E7BF0E3F8A7F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33A5C-1DCD-4B33-A15F-E223B7773985}">
      <dsp:nvSpPr>
        <dsp:cNvPr id="0" name=""/>
        <dsp:cNvSpPr/>
      </dsp:nvSpPr>
      <dsp:spPr>
        <a:xfrm>
          <a:off x="2018488" y="41067"/>
          <a:ext cx="1971238" cy="197123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Identificação</a:t>
          </a:r>
        </a:p>
      </dsp:txBody>
      <dsp:txXfrm>
        <a:off x="2281320" y="386034"/>
        <a:ext cx="1445575" cy="887057"/>
      </dsp:txXfrm>
    </dsp:sp>
    <dsp:sp modelId="{C4723A03-3062-4038-A6B8-FB938A34670B}">
      <dsp:nvSpPr>
        <dsp:cNvPr id="0" name=""/>
        <dsp:cNvSpPr/>
      </dsp:nvSpPr>
      <dsp:spPr>
        <a:xfrm>
          <a:off x="2729777" y="1273091"/>
          <a:ext cx="1971238" cy="197123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Propostas</a:t>
          </a:r>
        </a:p>
      </dsp:txBody>
      <dsp:txXfrm>
        <a:off x="3332647" y="1782328"/>
        <a:ext cx="1182743" cy="1084181"/>
      </dsp:txXfrm>
    </dsp:sp>
    <dsp:sp modelId="{33674813-E617-4674-A56D-6F3E0499B25A}">
      <dsp:nvSpPr>
        <dsp:cNvPr id="0" name=""/>
        <dsp:cNvSpPr/>
      </dsp:nvSpPr>
      <dsp:spPr>
        <a:xfrm>
          <a:off x="1345047" y="1293434"/>
          <a:ext cx="1971238" cy="197123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Análise</a:t>
          </a:r>
        </a:p>
      </dsp:txBody>
      <dsp:txXfrm>
        <a:off x="1530672" y="1802671"/>
        <a:ext cx="1182743" cy="1084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EC098-7F04-499C-BE8B-2701C0F5ED15}">
      <dsp:nvSpPr>
        <dsp:cNvPr id="0" name=""/>
        <dsp:cNvSpPr/>
      </dsp:nvSpPr>
      <dsp:spPr>
        <a:xfrm rot="5400000">
          <a:off x="1040846" y="980930"/>
          <a:ext cx="867548" cy="98767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F4983-C3D4-4EBC-AAED-E2105AE7FE15}">
      <dsp:nvSpPr>
        <dsp:cNvPr id="0" name=""/>
        <dsp:cNvSpPr/>
      </dsp:nvSpPr>
      <dsp:spPr>
        <a:xfrm>
          <a:off x="810998" y="19235"/>
          <a:ext cx="1460440" cy="102226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Avanços</a:t>
          </a:r>
        </a:p>
      </dsp:txBody>
      <dsp:txXfrm>
        <a:off x="860910" y="69147"/>
        <a:ext cx="1360616" cy="922437"/>
      </dsp:txXfrm>
    </dsp:sp>
    <dsp:sp modelId="{DAE66A22-6BD7-4490-914D-B5528619FD3C}">
      <dsp:nvSpPr>
        <dsp:cNvPr id="0" name=""/>
        <dsp:cNvSpPr/>
      </dsp:nvSpPr>
      <dsp:spPr>
        <a:xfrm>
          <a:off x="2271439" y="116731"/>
          <a:ext cx="1062185" cy="826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AEBB9C-0CAA-4856-99DD-58F440C4F2AC}">
      <dsp:nvSpPr>
        <dsp:cNvPr id="0" name=""/>
        <dsp:cNvSpPr/>
      </dsp:nvSpPr>
      <dsp:spPr>
        <a:xfrm rot="5400000">
          <a:off x="2251707" y="2129267"/>
          <a:ext cx="867548" cy="98767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D2E71-1DA3-4B27-B4FB-F3357823903E}">
      <dsp:nvSpPr>
        <dsp:cNvPr id="0" name=""/>
        <dsp:cNvSpPr/>
      </dsp:nvSpPr>
      <dsp:spPr>
        <a:xfrm>
          <a:off x="2021859" y="1167572"/>
          <a:ext cx="1460440" cy="102226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Dificuldades</a:t>
          </a:r>
        </a:p>
      </dsp:txBody>
      <dsp:txXfrm>
        <a:off x="2071771" y="1217484"/>
        <a:ext cx="1360616" cy="922437"/>
      </dsp:txXfrm>
    </dsp:sp>
    <dsp:sp modelId="{06FE0065-A0A8-4FE8-9752-39900C4D4BAC}">
      <dsp:nvSpPr>
        <dsp:cNvPr id="0" name=""/>
        <dsp:cNvSpPr/>
      </dsp:nvSpPr>
      <dsp:spPr>
        <a:xfrm>
          <a:off x="3482300" y="1265068"/>
          <a:ext cx="1062185" cy="826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A1438A-98D1-42E1-AA57-E7BF0E3F8A7F}">
      <dsp:nvSpPr>
        <dsp:cNvPr id="0" name=""/>
        <dsp:cNvSpPr/>
      </dsp:nvSpPr>
      <dsp:spPr>
        <a:xfrm>
          <a:off x="3232720" y="2315909"/>
          <a:ext cx="1460440" cy="102226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Estratégias</a:t>
          </a:r>
        </a:p>
      </dsp:txBody>
      <dsp:txXfrm>
        <a:off x="3282632" y="2365821"/>
        <a:ext cx="1360616" cy="922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9988597-0D2B-4D9B-875C-C07C90A297DA}" type="datetime1">
              <a:rPr lang="pt-BR" smtClean="0"/>
              <a:pPr rtl="0"/>
              <a:t>16/06/2026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0AD62A-9EE1-43E3-A7E5-D268F71DF3EB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6448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8DDA0-C85B-4FC8-9EC9-8CAFA2783410}" type="datetime1">
              <a:rPr lang="pt-BR" smtClean="0"/>
              <a:pPr/>
              <a:t>16/06/2026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534C2EF-8A97-4DAF-B099-E567883644D6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180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39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dirty="0"/>
              <a:t>NOTA: Para alterar as imagens no slide, selecione e exclua uma imagem. Em seguida, clique no ícone Inserir Imagem no espaço reservado para inserir sua própria imagem.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534C2EF-8A97-4DAF-B099-E567883644D6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6014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dirty="0"/>
              <a:t>NOTA: Para alterar as imagens no slide, selecione e exclua uma imagem. Em seguida, clique no ícone Inserir Imagem no espaço reservado para inserir sua própria imagem.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534C2EF-8A97-4DAF-B099-E567883644D6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7004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895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dirty="0"/>
              <a:t>NOTA: Para alterar as imagens no slide, selecione e exclua uma imagem. Em seguida, clique no ícone Inserir Imagem no espaço reservado para inserir sua própria imagem.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534C2EF-8A97-4DAF-B099-E567883644D6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326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895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203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1038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5335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smtClean="0"/>
              <a:pPr rtl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3810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534C2EF-8A97-4DAF-B099-E567883644D6}" type="slidenum">
              <a:rPr lang="pt-BR" noProof="0" smtClean="0"/>
              <a:pPr rtl="0"/>
              <a:t>36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921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r="323" b="422"/>
          <a:stretch/>
        </p:blipFill>
        <p:spPr>
          <a:xfrm>
            <a:off x="1524" y="1"/>
            <a:ext cx="12188952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8458200" cy="1828800"/>
          </a:xfrm>
        </p:spPr>
        <p:txBody>
          <a:bodyPr rtlCol="0" anchor="b">
            <a:normAutofit/>
          </a:bodyPr>
          <a:lstStyle>
            <a:lvl1pPr algn="l">
              <a:defRPr sz="4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8200" y="2438400"/>
            <a:ext cx="7086600" cy="914400"/>
          </a:xfrm>
        </p:spPr>
        <p:txBody>
          <a:bodyPr rtlCol="0">
            <a:normAutofit/>
          </a:bodyPr>
          <a:lstStyle>
            <a:lvl1pPr marL="0" indent="0" algn="l">
              <a:spcBef>
                <a:spcPts val="1200"/>
              </a:spcBef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5445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3573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" t="422"/>
          <a:stretch/>
        </p:blipFill>
        <p:spPr>
          <a:xfrm>
            <a:off x="0" y="0"/>
            <a:ext cx="12188952" cy="68571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52800" y="533400"/>
            <a:ext cx="7315200" cy="1828800"/>
          </a:xfrm>
        </p:spPr>
        <p:txBody>
          <a:bodyPr rtlCol="0" anchor="b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352800" y="2438400"/>
            <a:ext cx="5486400" cy="9144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7950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89120" cy="3474720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78880" y="1825625"/>
            <a:ext cx="4389120" cy="3474720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2530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4389120" cy="795867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4000" y="2624666"/>
            <a:ext cx="4389120" cy="2675467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78880" y="1828799"/>
            <a:ext cx="4389120" cy="795867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78880" y="2624666"/>
            <a:ext cx="4389120" cy="2675467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000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4502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8007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24400" y="1828800"/>
            <a:ext cx="5943600" cy="3476625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3999" y="1828800"/>
            <a:ext cx="2926080" cy="3476625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0735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 5"/>
          <p:cNvSpPr>
            <a:spLocks/>
          </p:cNvSpPr>
          <p:nvPr/>
        </p:nvSpPr>
        <p:spPr bwMode="gray">
          <a:xfrm>
            <a:off x="804333" y="1695450"/>
            <a:ext cx="5596467" cy="3295650"/>
          </a:xfrm>
          <a:custGeom>
            <a:avLst/>
            <a:gdLst>
              <a:gd name="T0" fmla="*/ 1279 w 1347"/>
              <a:gd name="T1" fmla="*/ 919 h 986"/>
              <a:gd name="T2" fmla="*/ 65 w 1347"/>
              <a:gd name="T3" fmla="*/ 919 h 986"/>
              <a:gd name="T4" fmla="*/ 65 w 1347"/>
              <a:gd name="T5" fmla="*/ 64 h 986"/>
              <a:gd name="T6" fmla="*/ 1279 w 1347"/>
              <a:gd name="T7" fmla="*/ 64 h 986"/>
              <a:gd name="T8" fmla="*/ 1279 w 1347"/>
              <a:gd name="T9" fmla="*/ 919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47" h="986">
                <a:moveTo>
                  <a:pt x="1279" y="919"/>
                </a:moveTo>
                <a:cubicBezTo>
                  <a:pt x="1211" y="986"/>
                  <a:pt x="121" y="974"/>
                  <a:pt x="65" y="919"/>
                </a:cubicBezTo>
                <a:cubicBezTo>
                  <a:pt x="9" y="863"/>
                  <a:pt x="0" y="128"/>
                  <a:pt x="65" y="64"/>
                </a:cubicBezTo>
                <a:cubicBezTo>
                  <a:pt x="130" y="0"/>
                  <a:pt x="1217" y="3"/>
                  <a:pt x="1279" y="64"/>
                </a:cubicBezTo>
                <a:cubicBezTo>
                  <a:pt x="1341" y="125"/>
                  <a:pt x="1347" y="852"/>
                  <a:pt x="1279" y="9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2" name="Espaço Reservado para Imagem 11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>
          <a:xfrm>
            <a:off x="1006022" y="1874520"/>
            <a:ext cx="5193089" cy="2937510"/>
          </a:xfrm>
          <a:custGeom>
            <a:avLst/>
            <a:gdLst>
              <a:gd name="connsiteX0" fmla="*/ 2531359 w 5066932"/>
              <a:gd name="connsiteY0" fmla="*/ 21 h 2945784"/>
              <a:gd name="connsiteX1" fmla="*/ 4878015 w 5066932"/>
              <a:gd name="connsiteY1" fmla="*/ 145719 h 2945784"/>
              <a:gd name="connsiteX2" fmla="*/ 4878015 w 5066932"/>
              <a:gd name="connsiteY2" fmla="*/ 2803241 h 2945784"/>
              <a:gd name="connsiteX3" fmla="*/ 175988 w 5066932"/>
              <a:gd name="connsiteY3" fmla="*/ 2803241 h 2945784"/>
              <a:gd name="connsiteX4" fmla="*/ 175988 w 5066932"/>
              <a:gd name="connsiteY4" fmla="*/ 145719 h 2945784"/>
              <a:gd name="connsiteX5" fmla="*/ 2531359 w 5066932"/>
              <a:gd name="connsiteY5" fmla="*/ 21 h 2945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6932" h="2945784">
                <a:moveTo>
                  <a:pt x="2531359" y="21"/>
                </a:moveTo>
                <a:cubicBezTo>
                  <a:pt x="3645379" y="1187"/>
                  <a:pt x="4757946" y="50918"/>
                  <a:pt x="4878015" y="145719"/>
                </a:cubicBezTo>
                <a:cubicBezTo>
                  <a:pt x="5118151" y="335320"/>
                  <a:pt x="5141390" y="2594991"/>
                  <a:pt x="4878015" y="2803241"/>
                </a:cubicBezTo>
                <a:cubicBezTo>
                  <a:pt x="4614639" y="3011491"/>
                  <a:pt x="392886" y="2974193"/>
                  <a:pt x="175988" y="2803241"/>
                </a:cubicBezTo>
                <a:cubicBezTo>
                  <a:pt x="-40909" y="2629181"/>
                  <a:pt x="-75768" y="344644"/>
                  <a:pt x="175988" y="145719"/>
                </a:cubicBezTo>
                <a:cubicBezTo>
                  <a:pt x="301866" y="46256"/>
                  <a:pt x="1417339" y="-1144"/>
                  <a:pt x="2531359" y="2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010400" y="2245995"/>
            <a:ext cx="3657600" cy="219456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5131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uas Imagens com Leg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" y="1716"/>
            <a:ext cx="12188952" cy="685628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580" y="5791200"/>
            <a:ext cx="8115419" cy="70167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40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7" name="Forma Livre 5"/>
          <p:cNvSpPr>
            <a:spLocks/>
          </p:cNvSpPr>
          <p:nvPr/>
        </p:nvSpPr>
        <p:spPr bwMode="gray">
          <a:xfrm>
            <a:off x="762000" y="933449"/>
            <a:ext cx="4114800" cy="4109465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5" name="Espaço Reservado para Imagem 14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3"/>
          </p:nvPr>
        </p:nvSpPr>
        <p:spPr>
          <a:xfrm>
            <a:off x="992435" y="1113022"/>
            <a:ext cx="3638453" cy="3750319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4"/>
          </p:nvPr>
        </p:nvSpPr>
        <p:spPr>
          <a:xfrm>
            <a:off x="1028581" y="5181600"/>
            <a:ext cx="3566160" cy="493776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0" indent="0">
              <a:spcBef>
                <a:spcPts val="1200"/>
              </a:spcBef>
              <a:buNone/>
              <a:defRPr sz="1800"/>
            </a:lvl2pPr>
            <a:lvl3pPr marL="0" indent="0">
              <a:spcBef>
                <a:spcPts val="1200"/>
              </a:spcBef>
              <a:buNone/>
              <a:defRPr sz="1800"/>
            </a:lvl3pPr>
            <a:lvl4pPr marL="0" indent="0">
              <a:spcBef>
                <a:spcPts val="1200"/>
              </a:spcBef>
              <a:buNone/>
              <a:defRPr sz="1800"/>
            </a:lvl4pPr>
            <a:lvl5pPr marL="0" indent="0">
              <a:spcBef>
                <a:spcPts val="1200"/>
              </a:spcBef>
              <a:buNone/>
              <a:defRPr sz="18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8" name="Forma Livre 5"/>
          <p:cNvSpPr>
            <a:spLocks/>
          </p:cNvSpPr>
          <p:nvPr/>
        </p:nvSpPr>
        <p:spPr bwMode="gray">
          <a:xfrm>
            <a:off x="5300133" y="933449"/>
            <a:ext cx="4114800" cy="4109465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9" name="Espaço Reservado para Imagem 18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5"/>
          </p:nvPr>
        </p:nvSpPr>
        <p:spPr>
          <a:xfrm>
            <a:off x="5530568" y="1113022"/>
            <a:ext cx="3638453" cy="3750319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0" name="Espaço Reservado para Texto 16"/>
          <p:cNvSpPr>
            <a:spLocks noGrp="1"/>
          </p:cNvSpPr>
          <p:nvPr>
            <p:ph type="body" sz="quarter" idx="16"/>
          </p:nvPr>
        </p:nvSpPr>
        <p:spPr>
          <a:xfrm>
            <a:off x="5566714" y="5181600"/>
            <a:ext cx="3566160" cy="493776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0" indent="0">
              <a:spcBef>
                <a:spcPts val="1200"/>
              </a:spcBef>
              <a:buNone/>
              <a:defRPr sz="1800"/>
            </a:lvl2pPr>
            <a:lvl3pPr marL="0" indent="0">
              <a:spcBef>
                <a:spcPts val="1200"/>
              </a:spcBef>
              <a:buNone/>
              <a:defRPr sz="1800"/>
            </a:lvl3pPr>
            <a:lvl4pPr marL="0" indent="0">
              <a:spcBef>
                <a:spcPts val="1200"/>
              </a:spcBef>
              <a:buNone/>
              <a:defRPr sz="1800"/>
            </a:lvl4pPr>
            <a:lvl5pPr marL="0" indent="0">
              <a:spcBef>
                <a:spcPts val="1200"/>
              </a:spcBef>
              <a:buNone/>
              <a:defRPr sz="18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3777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ês Imagens com Leg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" y="1716"/>
            <a:ext cx="12188952" cy="685628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580" y="5305424"/>
            <a:ext cx="8104083" cy="57992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7" name="Forma Livre 5"/>
          <p:cNvSpPr>
            <a:spLocks/>
          </p:cNvSpPr>
          <p:nvPr/>
        </p:nvSpPr>
        <p:spPr bwMode="gray">
          <a:xfrm>
            <a:off x="762000" y="933449"/>
            <a:ext cx="5334000" cy="4109465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5" name="Espaço Reservado para Imagem 14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3"/>
          </p:nvPr>
        </p:nvSpPr>
        <p:spPr>
          <a:xfrm>
            <a:off x="991888" y="1113022"/>
            <a:ext cx="4874224" cy="3750319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8" name="Forma Livre 5"/>
          <p:cNvSpPr>
            <a:spLocks/>
          </p:cNvSpPr>
          <p:nvPr/>
        </p:nvSpPr>
        <p:spPr bwMode="gray">
          <a:xfrm>
            <a:off x="6323873" y="967316"/>
            <a:ext cx="2990942" cy="1934384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9" name="Espaço Reservado para Imagem 18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5"/>
          </p:nvPr>
        </p:nvSpPr>
        <p:spPr>
          <a:xfrm>
            <a:off x="6506025" y="1109743"/>
            <a:ext cx="2626638" cy="1649530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18288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2" name="Forma Livre 5"/>
          <p:cNvSpPr>
            <a:spLocks/>
          </p:cNvSpPr>
          <p:nvPr/>
        </p:nvSpPr>
        <p:spPr bwMode="gray">
          <a:xfrm>
            <a:off x="6323873" y="3060954"/>
            <a:ext cx="2990942" cy="1934384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3" name="Espaço Reservado para Imagem 12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6"/>
          </p:nvPr>
        </p:nvSpPr>
        <p:spPr>
          <a:xfrm>
            <a:off x="6506025" y="3203381"/>
            <a:ext cx="2626638" cy="1649530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18288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4"/>
          </p:nvPr>
        </p:nvSpPr>
        <p:spPr>
          <a:xfrm>
            <a:off x="1028581" y="5919255"/>
            <a:ext cx="8104082" cy="49742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0" indent="0">
              <a:spcBef>
                <a:spcPts val="1200"/>
              </a:spcBef>
              <a:buNone/>
              <a:defRPr sz="1800"/>
            </a:lvl2pPr>
            <a:lvl3pPr marL="0" indent="0">
              <a:spcBef>
                <a:spcPts val="1200"/>
              </a:spcBef>
              <a:buNone/>
              <a:defRPr sz="1800"/>
            </a:lvl3pPr>
            <a:lvl4pPr marL="0" indent="0">
              <a:spcBef>
                <a:spcPts val="1200"/>
              </a:spcBef>
              <a:buNone/>
              <a:defRPr sz="1800"/>
            </a:lvl4pPr>
            <a:lvl5pPr marL="0" indent="0">
              <a:spcBef>
                <a:spcPts val="1200"/>
              </a:spcBef>
              <a:buNone/>
              <a:defRPr sz="18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1779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nco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" y="283"/>
            <a:ext cx="12188952" cy="685971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77400" y="365126"/>
            <a:ext cx="2133600" cy="153987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40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8" name="Forma Livre 5"/>
          <p:cNvSpPr>
            <a:spLocks/>
          </p:cNvSpPr>
          <p:nvPr/>
        </p:nvSpPr>
        <p:spPr bwMode="gray">
          <a:xfrm>
            <a:off x="4182533" y="265044"/>
            <a:ext cx="5232399" cy="3020023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9" name="Espaço Reservado para Imagem 8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3"/>
          </p:nvPr>
        </p:nvSpPr>
        <p:spPr>
          <a:xfrm>
            <a:off x="4424435" y="436315"/>
            <a:ext cx="4748594" cy="2677481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0" name="Forma Livre 5"/>
          <p:cNvSpPr>
            <a:spLocks/>
          </p:cNvSpPr>
          <p:nvPr/>
        </p:nvSpPr>
        <p:spPr bwMode="gray">
          <a:xfrm>
            <a:off x="816188" y="384723"/>
            <a:ext cx="3146212" cy="1894677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1" name="Espaço Reservado para Imagem 10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5"/>
          </p:nvPr>
        </p:nvSpPr>
        <p:spPr>
          <a:xfrm>
            <a:off x="1013022" y="538232"/>
            <a:ext cx="2752545" cy="1587658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18288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2" name="Forma Livre 5"/>
          <p:cNvSpPr>
            <a:spLocks/>
          </p:cNvSpPr>
          <p:nvPr/>
        </p:nvSpPr>
        <p:spPr bwMode="gray">
          <a:xfrm>
            <a:off x="816188" y="2478361"/>
            <a:ext cx="3146212" cy="1894677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3" name="Espaço Reservado para Imagem 12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6"/>
          </p:nvPr>
        </p:nvSpPr>
        <p:spPr>
          <a:xfrm>
            <a:off x="1013022" y="2631870"/>
            <a:ext cx="2752545" cy="1587658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18288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Forma Livre 5"/>
          <p:cNvSpPr>
            <a:spLocks/>
          </p:cNvSpPr>
          <p:nvPr/>
        </p:nvSpPr>
        <p:spPr bwMode="gray">
          <a:xfrm>
            <a:off x="816188" y="4571999"/>
            <a:ext cx="3146212" cy="1894677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15" name="Espaço Reservado para Imagem 14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7"/>
          </p:nvPr>
        </p:nvSpPr>
        <p:spPr>
          <a:xfrm>
            <a:off x="1013022" y="4725508"/>
            <a:ext cx="2752545" cy="1587658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18288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0" name="Forma Livre 5"/>
          <p:cNvSpPr>
            <a:spLocks/>
          </p:cNvSpPr>
          <p:nvPr/>
        </p:nvSpPr>
        <p:spPr bwMode="gray">
          <a:xfrm>
            <a:off x="4182533" y="3448511"/>
            <a:ext cx="5232399" cy="3020023"/>
          </a:xfrm>
          <a:custGeom>
            <a:avLst/>
            <a:gdLst>
              <a:gd name="T0" fmla="*/ 870 w 933"/>
              <a:gd name="T1" fmla="*/ 64 h 1275"/>
              <a:gd name="T2" fmla="*/ 870 w 933"/>
              <a:gd name="T3" fmla="*/ 1213 h 1275"/>
              <a:gd name="T4" fmla="*/ 61 w 933"/>
              <a:gd name="T5" fmla="*/ 1213 h 1275"/>
              <a:gd name="T6" fmla="*/ 61 w 933"/>
              <a:gd name="T7" fmla="*/ 64 h 1275"/>
              <a:gd name="T8" fmla="*/ 870 w 933"/>
              <a:gd name="T9" fmla="*/ 6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1275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21" name="Espaço Reservado para Imagem 20" descr="Um espaço reservado vazio para adicionar uma imagem. Clique no espaço reservado e selecione a imagem que você deseja adicionar"/>
          <p:cNvSpPr>
            <a:spLocks noGrp="1"/>
          </p:cNvSpPr>
          <p:nvPr>
            <p:ph type="pic" sz="quarter" idx="18"/>
          </p:nvPr>
        </p:nvSpPr>
        <p:spPr>
          <a:xfrm>
            <a:off x="4424435" y="3619782"/>
            <a:ext cx="4748594" cy="2677481"/>
          </a:xfrm>
          <a:custGeom>
            <a:avLst/>
            <a:gdLst>
              <a:gd name="connsiteX0" fmla="*/ 1744346 w 3503695"/>
              <a:gd name="connsiteY0" fmla="*/ 62 h 4031418"/>
              <a:gd name="connsiteX1" fmla="*/ 3334838 w 3503695"/>
              <a:gd name="connsiteY1" fmla="*/ 150223 h 4031418"/>
              <a:gd name="connsiteX2" fmla="*/ 3334838 w 3503695"/>
              <a:gd name="connsiteY2" fmla="*/ 3890810 h 4031418"/>
              <a:gd name="connsiteX3" fmla="*/ 174362 w 3503695"/>
              <a:gd name="connsiteY3" fmla="*/ 3890810 h 4031418"/>
              <a:gd name="connsiteX4" fmla="*/ 174362 w 3503695"/>
              <a:gd name="connsiteY4" fmla="*/ 150223 h 4031418"/>
              <a:gd name="connsiteX5" fmla="*/ 1744346 w 3503695"/>
              <a:gd name="connsiteY5" fmla="*/ 62 h 403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3695" h="4031418">
                <a:moveTo>
                  <a:pt x="1744346" y="62"/>
                </a:moveTo>
                <a:cubicBezTo>
                  <a:pt x="2475376" y="-1972"/>
                  <a:pt x="3209826" y="46047"/>
                  <a:pt x="3334838" y="150223"/>
                </a:cubicBezTo>
                <a:cubicBezTo>
                  <a:pt x="3580957" y="358576"/>
                  <a:pt x="3537984" y="3718268"/>
                  <a:pt x="3334838" y="3890810"/>
                </a:cubicBezTo>
                <a:cubicBezTo>
                  <a:pt x="3127786" y="4063352"/>
                  <a:pt x="408761" y="4092652"/>
                  <a:pt x="174362" y="3890810"/>
                </a:cubicBezTo>
                <a:cubicBezTo>
                  <a:pt x="-63943" y="3688968"/>
                  <a:pt x="-52223" y="342299"/>
                  <a:pt x="174362" y="150223"/>
                </a:cubicBezTo>
                <a:cubicBezTo>
                  <a:pt x="285702" y="54185"/>
                  <a:pt x="1013315" y="2097"/>
                  <a:pt x="1744346" y="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6467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4326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365125"/>
            <a:ext cx="1828799" cy="49403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365125"/>
            <a:ext cx="6858000" cy="494030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2624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" t="511" r="525" b="2999"/>
          <a:stretch/>
        </p:blipFill>
        <p:spPr>
          <a:xfrm>
            <a:off x="0" y="0"/>
            <a:ext cx="12188826" cy="6858000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289D71E3-7D81-4C24-B9D8-6B108755C64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165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2" r:id="rId11"/>
    <p:sldLayoutId id="2147483661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atyaneemidio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5400" b="1" dirty="0"/>
              <a:t>RAV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2800" b="1" dirty="0"/>
              <a:t>Registro de Avaliação</a:t>
            </a: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3809984" y="3786190"/>
            <a:ext cx="4875454" cy="12150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dirty="0"/>
              <a:t>Tatyane Emídio </a:t>
            </a:r>
          </a:p>
          <a:p>
            <a:pPr algn="ctr"/>
            <a:r>
              <a:rPr lang="pt-BR" sz="2000" dirty="0"/>
              <a:t> </a:t>
            </a:r>
            <a:r>
              <a:rPr lang="pt-BR" sz="2000" dirty="0">
                <a:hlinkClick r:id="rId3"/>
              </a:rPr>
              <a:t>tatyaneemidio@edu.se.gov.br</a:t>
            </a:r>
            <a:endParaRPr lang="pt-BR" sz="2000" dirty="0"/>
          </a:p>
          <a:p>
            <a:pPr algn="ctr"/>
            <a:r>
              <a:rPr lang="pt-BR" sz="2000" dirty="0"/>
              <a:t> </a:t>
            </a:r>
          </a:p>
          <a:p>
            <a:pPr algn="ctr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9804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Leitura Deleite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0" y="1412776"/>
            <a:ext cx="9144000" cy="38907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600" b="1" dirty="0"/>
              <a:t>O cachorro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CRAI - TAGUATINGA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2204864"/>
            <a:ext cx="638175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2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084" y="928670"/>
            <a:ext cx="10187022" cy="2643206"/>
          </a:xfrm>
        </p:spPr>
        <p:txBody>
          <a:bodyPr>
            <a:noAutofit/>
          </a:bodyPr>
          <a:lstStyle/>
          <a:p>
            <a:pPr algn="ctr"/>
            <a:r>
              <a:rPr lang="pt-BR" sz="6000" b="1" dirty="0"/>
              <a:t>De que forma as aprendizagens evidenciadas são registradas?</a:t>
            </a:r>
            <a:endParaRPr lang="pt-BR" sz="6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b="1" dirty="0">
                <a:solidFill>
                  <a:srgbClr val="C00000"/>
                </a:solidFill>
              </a:rPr>
              <a:t>RAV – REGISTRO DE AVALIÃÇÃO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1738630"/>
            <a:ext cx="2295602" cy="3133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1781875"/>
            <a:ext cx="2177639" cy="304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0"/>
          <p:cNvSpPr txBox="1">
            <a:spLocks/>
          </p:cNvSpPr>
          <p:nvPr/>
        </p:nvSpPr>
        <p:spPr>
          <a:xfrm>
            <a:off x="7248128" y="1086893"/>
            <a:ext cx="3528392" cy="3744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/>
              <a:t>O objetivo é acompanhar a história da construção da aprendizagem e do desenvolvimento do estudante em determinado período, por meio da observação, da reflexão e das intervenções pedagógicas realizadas por você, professor.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3389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4"/>
          </p:nvPr>
        </p:nvSpPr>
        <p:spPr>
          <a:xfrm>
            <a:off x="901203" y="2492896"/>
            <a:ext cx="4070216" cy="1080120"/>
          </a:xfrm>
        </p:spPr>
        <p:txBody>
          <a:bodyPr rtlCol="0">
            <a:normAutofit/>
          </a:bodyPr>
          <a:lstStyle/>
          <a:p>
            <a:pPr algn="ctr" rtl="0"/>
            <a:r>
              <a:rPr lang="pt-BR" b="1" dirty="0"/>
              <a:t>Formulário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DESCRIÇÃO DO PROCESSO DE APRENDIZAGEM</a:t>
            </a:r>
          </a:p>
          <a:p>
            <a:pPr rtl="0"/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5449086" y="2492896"/>
            <a:ext cx="3697638" cy="1055712"/>
          </a:xfrm>
        </p:spPr>
        <p:txBody>
          <a:bodyPr rtlCol="0">
            <a:normAutofit lnSpcReduction="10000"/>
          </a:bodyPr>
          <a:lstStyle/>
          <a:p>
            <a:pPr algn="ctr" rtl="0"/>
            <a:r>
              <a:rPr lang="pt-BR" b="1" dirty="0"/>
              <a:t>Formulário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ATA DE CONSELHO DE CLASSE</a:t>
            </a:r>
          </a:p>
          <a:p>
            <a:pPr algn="ctr" rtl="0"/>
            <a:endParaRPr lang="pt-B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4392" y="2708920"/>
            <a:ext cx="2376264" cy="3384376"/>
          </a:xfrm>
        </p:spPr>
        <p:txBody>
          <a:bodyPr/>
          <a:lstStyle/>
          <a:p>
            <a:pPr algn="ctr"/>
            <a:r>
              <a:rPr lang="pt-BR" b="1" dirty="0"/>
              <a:t>O professor registra a análise das aprendizagens e do desenvolvimento do estudante dos Anos Inicias. </a:t>
            </a:r>
          </a:p>
        </p:txBody>
      </p:sp>
    </p:spTree>
    <p:extLst>
      <p:ext uri="{BB962C8B-B14F-4D97-AF65-F5344CB8AC3E}">
        <p14:creationId xmlns:p14="http://schemas.microsoft.com/office/powerpoint/2010/main" val="386444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Descrição do Processo de Aprendizagem do Estudante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31704" y="2780928"/>
            <a:ext cx="5486400" cy="914400"/>
          </a:xfrm>
        </p:spPr>
        <p:txBody>
          <a:bodyPr rtlCol="0"/>
          <a:lstStyle/>
          <a:p>
            <a:pPr rtl="0"/>
            <a:r>
              <a:rPr lang="pt-BR" dirty="0"/>
              <a:t>Formulário 1</a:t>
            </a:r>
          </a:p>
        </p:txBody>
      </p:sp>
    </p:spTree>
    <p:extLst>
      <p:ext uri="{BB962C8B-B14F-4D97-AF65-F5344CB8AC3E}">
        <p14:creationId xmlns:p14="http://schemas.microsoft.com/office/powerpoint/2010/main" val="68434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3" name="Subtítulo 4"/>
          <p:cNvSpPr txBox="1">
            <a:spLocks/>
          </p:cNvSpPr>
          <p:nvPr/>
        </p:nvSpPr>
        <p:spPr>
          <a:xfrm>
            <a:off x="309522" y="1571612"/>
            <a:ext cx="11215766" cy="485778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1. Formar grupos por ano de regência (1º, 2º, 3º, 4º e 5º ano);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latin typeface="Candara" pitchFamily="34" charset="0"/>
                <a:ea typeface="+mj-ea"/>
                <a:cs typeface="+mj-cs"/>
              </a:rPr>
              <a:t>2. Analisar os Registros e pintar conforme legenda abaixo: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	Diagnóstico (objetivos de aprendizagem)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          O que aprendeu (percurso)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          Dificuldades evidenciadas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          (o que não aprendeu ainda)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     	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Intervenções realizadas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srgbClr val="FF0000"/>
                </a:solidFill>
                <a:latin typeface="Candara" pitchFamily="34" charset="0"/>
                <a:ea typeface="+mj-ea"/>
                <a:cs typeface="+mj-cs"/>
              </a:rPr>
              <a:t>         Outras informações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1095340" y="571480"/>
            <a:ext cx="9829800" cy="78581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Atividade: Legenda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2398" y="214290"/>
            <a:ext cx="11430080" cy="857256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Nos registros das aprendizagens são contempladas as reflexões...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66778" y="1571612"/>
            <a:ext cx="9501254" cy="4243406"/>
          </a:xfrm>
        </p:spPr>
        <p:txBody>
          <a:bodyPr>
            <a:normAutofit/>
          </a:bodyPr>
          <a:lstStyle/>
          <a:p>
            <a:pPr lvl="0" algn="ctr"/>
            <a:r>
              <a:rPr lang="pt-BR" sz="2200" dirty="0"/>
              <a:t>O  que o (a) estudante apresentou: avanços, interesses, desenvolvimento nas diferentes áreas de conhecimento?</a:t>
            </a:r>
          </a:p>
          <a:p>
            <a:pPr lvl="0" algn="ctr"/>
            <a:r>
              <a:rPr lang="pt-BR" sz="2200" dirty="0"/>
              <a:t>As tarefas avaliativas e as observações feitas permitem perceber avanços em que sentido?</a:t>
            </a:r>
          </a:p>
          <a:p>
            <a:pPr lvl="0" algn="ctr"/>
            <a:r>
              <a:rPr lang="pt-BR" sz="2200" dirty="0"/>
              <a:t>O (A)  estudante ou grupos de estudantes precisam de mais tempo ou de mais atenção dos professores para alcançar as aprendizagens necessárias?</a:t>
            </a:r>
          </a:p>
          <a:p>
            <a:pPr lvl="0" algn="ctr"/>
            <a:r>
              <a:rPr lang="pt-BR" sz="2200" dirty="0"/>
              <a:t>Que tipo de intervenção é necessária para que isso ocorra?</a:t>
            </a:r>
          </a:p>
          <a:p>
            <a:pPr lvl="0" algn="ctr"/>
            <a:r>
              <a:rPr lang="pt-BR" sz="2200" dirty="0"/>
              <a:t>Compreendem-se as razões didáticas, sociais, relacionais do estudante não avançar na direção esperada?</a:t>
            </a:r>
          </a:p>
          <a:p>
            <a:pPr algn="ctr"/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O que deve apresentar?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59496" y="2060848"/>
            <a:ext cx="9144000" cy="3474720"/>
          </a:xfrm>
        </p:spPr>
        <p:txBody>
          <a:bodyPr rtlCol="0">
            <a:normAutofit/>
          </a:bodyPr>
          <a:lstStyle/>
          <a:p>
            <a:pPr marL="0" indent="0" algn="ctr" rtl="0">
              <a:buNone/>
            </a:pPr>
            <a:r>
              <a:rPr lang="pt-BR" sz="3200" dirty="0"/>
              <a:t>A construção da aprendizagem e do desenvolvimento do estudante em determinado período, considerando os contextos, as situações de aprendizagem e apreensão de cada estudante diante de tudo isso.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0033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305271" y="2060848"/>
            <a:ext cx="2088232" cy="936104"/>
          </a:xfrm>
        </p:spPr>
        <p:txBody>
          <a:bodyPr rtlCol="0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Tem caráter dinâmico,</a:t>
            </a:r>
            <a:br>
              <a:rPr lang="pt-BR" b="1" dirty="0">
                <a:solidFill>
                  <a:srgbClr val="FF0000"/>
                </a:solidFill>
              </a:rPr>
            </a:br>
            <a:r>
              <a:rPr lang="pt-BR" b="1" dirty="0">
                <a:solidFill>
                  <a:srgbClr val="FF0000"/>
                </a:solidFill>
              </a:rPr>
              <a:t>não se limita à atribuição de conceitos</a:t>
            </a:r>
            <a:br>
              <a:rPr lang="pt-BR" sz="2800" dirty="0"/>
            </a:br>
            <a:br>
              <a:rPr lang="pt-BR" sz="2800" b="1" dirty="0">
                <a:solidFill>
                  <a:schemeClr val="bg1"/>
                </a:solidFill>
              </a:rPr>
            </a:br>
            <a:endParaRPr lang="pt-BR" sz="2800" dirty="0"/>
          </a:p>
        </p:txBody>
      </p:sp>
      <p:sp>
        <p:nvSpPr>
          <p:cNvPr id="14" name="Título 12"/>
          <p:cNvSpPr txBox="1">
            <a:spLocks/>
          </p:cNvSpPr>
          <p:nvPr/>
        </p:nvSpPr>
        <p:spPr>
          <a:xfrm>
            <a:off x="1271464" y="3465443"/>
            <a:ext cx="1872208" cy="576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BR" sz="2800" dirty="0"/>
          </a:p>
        </p:txBody>
      </p:sp>
      <p:sp>
        <p:nvSpPr>
          <p:cNvPr id="15" name="Título 12"/>
          <p:cNvSpPr txBox="1">
            <a:spLocks/>
          </p:cNvSpPr>
          <p:nvPr/>
        </p:nvSpPr>
        <p:spPr>
          <a:xfrm>
            <a:off x="1271464" y="3573016"/>
            <a:ext cx="2122039" cy="14401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>
                <a:solidFill>
                  <a:srgbClr val="0070C0"/>
                </a:solidFill>
              </a:rPr>
              <a:t>Exige uma observação atenta e reflexiva</a:t>
            </a:r>
          </a:p>
          <a:p>
            <a:pPr algn="ctr"/>
            <a:br>
              <a:rPr lang="pt-BR" sz="2800" b="1" dirty="0">
                <a:solidFill>
                  <a:schemeClr val="bg1"/>
                </a:solidFill>
              </a:rPr>
            </a:br>
            <a:endParaRPr lang="pt-BR" sz="2800" b="1" dirty="0"/>
          </a:p>
        </p:txBody>
      </p:sp>
      <p:sp>
        <p:nvSpPr>
          <p:cNvPr id="16" name="Retângulo 15"/>
          <p:cNvSpPr/>
          <p:nvPr/>
        </p:nvSpPr>
        <p:spPr>
          <a:xfrm>
            <a:off x="1037116" y="4797152"/>
            <a:ext cx="28083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B050"/>
                </a:solidFill>
                <a:latin typeface="+mj-lt"/>
              </a:rPr>
              <a:t>Registro processual articulado à  intervenção pedagógica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4727848" y="3786644"/>
            <a:ext cx="43924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C000"/>
                </a:solidFill>
                <a:latin typeface="+mj-lt"/>
              </a:rPr>
              <a:t>Com elementos que dão visibilidade ao caminho percorrido pelo estudante em relação aos objetivos propostos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4550971" y="1111117"/>
            <a:ext cx="43656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7030A0"/>
                </a:solidFill>
                <a:latin typeface="+mj-lt"/>
              </a:rPr>
              <a:t>E aspectos que necessitam de atenção para que sejam desenvolvidos.</a:t>
            </a:r>
          </a:p>
        </p:txBody>
      </p:sp>
      <p:sp>
        <p:nvSpPr>
          <p:cNvPr id="20" name="Seta para a direita 19"/>
          <p:cNvSpPr/>
          <p:nvPr/>
        </p:nvSpPr>
        <p:spPr>
          <a:xfrm rot="5400000">
            <a:off x="2230415" y="2343547"/>
            <a:ext cx="438478" cy="288032"/>
          </a:xfrm>
          <a:prstGeom prst="rightArrow">
            <a:avLst/>
          </a:prstGeom>
          <a:solidFill>
            <a:schemeClr val="tx2">
              <a:lumMod val="65000"/>
              <a:lumOff val="3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20"/>
          <p:cNvSpPr/>
          <p:nvPr/>
        </p:nvSpPr>
        <p:spPr>
          <a:xfrm rot="5400000">
            <a:off x="2230415" y="4392902"/>
            <a:ext cx="438479" cy="288032"/>
          </a:xfrm>
          <a:prstGeom prst="rightArrow">
            <a:avLst/>
          </a:prstGeom>
          <a:solidFill>
            <a:schemeClr val="tx2">
              <a:lumMod val="65000"/>
              <a:lumOff val="3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 para a direita 21"/>
          <p:cNvSpPr/>
          <p:nvPr/>
        </p:nvSpPr>
        <p:spPr>
          <a:xfrm>
            <a:off x="3845426" y="5497016"/>
            <a:ext cx="678835" cy="325739"/>
          </a:xfrm>
          <a:prstGeom prst="rightArrow">
            <a:avLst/>
          </a:prstGeom>
          <a:solidFill>
            <a:schemeClr val="tx2">
              <a:lumMod val="65000"/>
              <a:lumOff val="3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cima e para baixo 22"/>
          <p:cNvSpPr/>
          <p:nvPr/>
        </p:nvSpPr>
        <p:spPr>
          <a:xfrm>
            <a:off x="6571776" y="2966356"/>
            <a:ext cx="324036" cy="756523"/>
          </a:xfrm>
          <a:prstGeom prst="upDownArrow">
            <a:avLst/>
          </a:prstGeom>
          <a:solidFill>
            <a:schemeClr val="tx2">
              <a:lumMod val="65000"/>
              <a:lumOff val="3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96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3" name="Retângulo 2"/>
          <p:cNvSpPr/>
          <p:nvPr/>
        </p:nvSpPr>
        <p:spPr>
          <a:xfrm>
            <a:off x="309522" y="714356"/>
            <a:ext cx="1135864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O Registro de Avaliação – RAV dos Anos Iniciais deve ser composto por três partes: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 </a:t>
            </a:r>
            <a:r>
              <a:rPr lang="pt-BR" sz="2400" b="1" u="sng" dirty="0"/>
              <a:t>1) Diagnose</a:t>
            </a:r>
            <a:r>
              <a:rPr lang="pt-BR" sz="2400" b="1" dirty="0"/>
              <a:t>: o que o estudante sabe e o que precisa saber para aquele ano ou período;</a:t>
            </a:r>
          </a:p>
          <a:p>
            <a:pPr algn="just"/>
            <a:r>
              <a:rPr lang="pt-BR" sz="2400" b="1" u="sng" dirty="0"/>
              <a:t> 2) Intervenção</a:t>
            </a:r>
            <a:r>
              <a:rPr lang="pt-BR" sz="2400" b="1" dirty="0"/>
              <a:t>: o que foi realizado e o que modificou-se ao longo do período (bimestre ou trimestre) e; </a:t>
            </a:r>
          </a:p>
          <a:p>
            <a:pPr algn="just"/>
            <a:r>
              <a:rPr lang="pt-BR" sz="2400" b="1" u="sng" dirty="0"/>
              <a:t>3) Prescrição</a:t>
            </a:r>
            <a:r>
              <a:rPr lang="pt-BR" sz="2400" b="1" dirty="0"/>
              <a:t>: a terceira parte, o que pode ser feito para que o estudante aprenda; nessa, o docente emite o parecer sobre o percurso formativo do estudante com a decisão de aprovado com êxito ou aprovado com a necessidade de maior acompanhamento pela escola e pela família para o período ou ano seguinte.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O que NÃO deve apresentar?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55440" y="1628800"/>
            <a:ext cx="10225136" cy="4176464"/>
          </a:xfrm>
        </p:spPr>
        <p:txBody>
          <a:bodyPr rtlCol="0">
            <a:normAutofit/>
          </a:bodyPr>
          <a:lstStyle/>
          <a:p>
            <a:pPr marL="0" indent="0" algn="ctr" rtl="0">
              <a:buNone/>
            </a:pPr>
            <a:endParaRPr lang="pt-BR" sz="2400" b="1" dirty="0"/>
          </a:p>
          <a:p>
            <a:pPr marL="0" indent="0" algn="ctr" rtl="0">
              <a:buNone/>
            </a:pPr>
            <a:r>
              <a:rPr lang="pt-BR" sz="3200" dirty="0"/>
              <a:t>A avaliação para ser legitimada como formativa, dentro de um processo ético, de acolhimento e de potencialização das aprendizagens e não de exclusão e exposição, deve-se evitar informações que:</a:t>
            </a:r>
          </a:p>
          <a:p>
            <a:pPr marL="0" indent="0" algn="ctr" rtl="0">
              <a:buNone/>
            </a:pPr>
            <a:endParaRPr lang="pt-BR" sz="32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413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408" y="5157192"/>
            <a:ext cx="9245760" cy="1205730"/>
          </a:xfrm>
        </p:spPr>
        <p:txBody>
          <a:bodyPr>
            <a:normAutofit/>
          </a:bodyPr>
          <a:lstStyle/>
          <a:p>
            <a:r>
              <a:rPr lang="pt-BR" sz="2700" b="1" dirty="0"/>
              <a:t>Situações que NÃO sirvam para qualificar o processo de ensino aprendizagem</a:t>
            </a:r>
            <a:r>
              <a:rPr lang="pt-BR" b="1" dirty="0"/>
              <a:t>.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4"/>
          </p:nvPr>
        </p:nvSpPr>
        <p:spPr>
          <a:xfrm>
            <a:off x="767408" y="1412776"/>
            <a:ext cx="3816424" cy="3600400"/>
          </a:xfrm>
        </p:spPr>
        <p:txBody>
          <a:bodyPr>
            <a:noAutofit/>
          </a:bodyPr>
          <a:lstStyle/>
          <a:p>
            <a:pPr algn="ctr"/>
            <a:r>
              <a:rPr lang="pt-BR" sz="3200" b="1" dirty="0">
                <a:solidFill>
                  <a:srgbClr val="7030A0"/>
                </a:solidFill>
              </a:rPr>
              <a:t>Características pessoais</a:t>
            </a:r>
          </a:p>
          <a:p>
            <a:pPr algn="ctr"/>
            <a:r>
              <a:rPr lang="pt-BR" sz="3200" b="1" dirty="0">
                <a:solidFill>
                  <a:srgbClr val="FFC000"/>
                </a:solidFill>
              </a:rPr>
              <a:t>Rótulos</a:t>
            </a:r>
          </a:p>
          <a:p>
            <a:pPr algn="ctr"/>
            <a:r>
              <a:rPr lang="pt-BR" sz="3200" b="1" dirty="0">
                <a:solidFill>
                  <a:srgbClr val="00B0F0"/>
                </a:solidFill>
              </a:rPr>
              <a:t>Expressões constrangedoras </a:t>
            </a:r>
          </a:p>
          <a:p>
            <a:endParaRPr lang="pt-BR" sz="2800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6"/>
          </p:nvPr>
        </p:nvSpPr>
        <p:spPr>
          <a:xfrm>
            <a:off x="5591944" y="1484784"/>
            <a:ext cx="3600400" cy="3096344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chemeClr val="accent4">
                    <a:lumMod val="75000"/>
                  </a:schemeClr>
                </a:solidFill>
              </a:rPr>
              <a:t>Avaliação Informal</a:t>
            </a:r>
          </a:p>
          <a:p>
            <a:pPr algn="ctr"/>
            <a:r>
              <a:rPr lang="pt-BR" sz="3200" b="1" dirty="0"/>
              <a:t>Família</a:t>
            </a:r>
          </a:p>
          <a:p>
            <a:pPr algn="ctr"/>
            <a:r>
              <a:rPr lang="pt-BR" sz="3200" b="1" dirty="0">
                <a:solidFill>
                  <a:srgbClr val="FF0000"/>
                </a:solidFill>
              </a:rPr>
              <a:t>Condições sociais</a:t>
            </a:r>
          </a:p>
          <a:p>
            <a:pPr algn="ctr"/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83711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 Como preencher?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7408" y="1556792"/>
            <a:ext cx="10513168" cy="2736304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BR" sz="2800" b="1" dirty="0"/>
          </a:p>
          <a:p>
            <a:pPr marL="0" indent="0" algn="ctr">
              <a:buNone/>
            </a:pPr>
            <a:endParaRPr lang="pt-BR" sz="2800" b="1" dirty="0"/>
          </a:p>
          <a:p>
            <a:pPr marL="0" indent="0" algn="ctr">
              <a:buNone/>
            </a:pPr>
            <a:r>
              <a:rPr lang="pt-BR" sz="3600" dirty="0"/>
              <a:t>Deverá conter questões que evidenciem:</a:t>
            </a:r>
          </a:p>
          <a:p>
            <a:pPr marL="0" indent="0" algn="ctr">
              <a:buNone/>
            </a:pPr>
            <a:endParaRPr lang="pt-BR" sz="32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2183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1022835" y="1000341"/>
            <a:ext cx="26805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/>
              <a:t> O diagnóstico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736741" y="2780928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C000"/>
                </a:solidFill>
              </a:rPr>
              <a:t>O caminho de aprendizagem</a:t>
            </a:r>
          </a:p>
        </p:txBody>
      </p:sp>
      <p:sp>
        <p:nvSpPr>
          <p:cNvPr id="10" name="Retângulo 9"/>
          <p:cNvSpPr/>
          <p:nvPr/>
        </p:nvSpPr>
        <p:spPr>
          <a:xfrm>
            <a:off x="971702" y="5288294"/>
            <a:ext cx="2842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0070C0"/>
                </a:solidFill>
              </a:rPr>
              <a:t>As dificuldades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795529" y="764704"/>
            <a:ext cx="40324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</a:rPr>
              <a:t>As estratégias utilizadas e as intervenções para a progressão 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439816" y="3739478"/>
            <a:ext cx="47525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Resultados das intervenções</a:t>
            </a:r>
          </a:p>
          <a:p>
            <a:pPr algn="ctr"/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Outras informações - Função Formativa</a:t>
            </a:r>
          </a:p>
          <a:p>
            <a:pPr algn="ctr"/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b="1" dirty="0">
                <a:solidFill>
                  <a:srgbClr val="7030A0"/>
                </a:solidFill>
              </a:rPr>
              <a:t>Currículo em Movimento e PPP</a:t>
            </a:r>
          </a:p>
          <a:p>
            <a:pPr algn="ctr"/>
            <a:endParaRPr lang="pt-BR" sz="2400" b="1" dirty="0">
              <a:solidFill>
                <a:srgbClr val="7030A0"/>
              </a:solidFill>
            </a:endParaRPr>
          </a:p>
          <a:p>
            <a:pPr algn="ctr"/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96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3" name="Subtítulo 4"/>
          <p:cNvSpPr txBox="1">
            <a:spLocks/>
          </p:cNvSpPr>
          <p:nvPr/>
        </p:nvSpPr>
        <p:spPr>
          <a:xfrm>
            <a:off x="809588" y="1357298"/>
            <a:ext cx="11215766" cy="4500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/>
            <a:r>
              <a:rPr lang="pt-PT" sz="2000" dirty="0"/>
              <a:t>1. O relato do(a) professor(a) deixa claro os objetivos de aprendizagem?</a:t>
            </a:r>
            <a:endParaRPr lang="pt-BR" sz="2000" dirty="0"/>
          </a:p>
          <a:p>
            <a:pPr marL="342900" indent="-342900"/>
            <a:r>
              <a:rPr lang="pt-PT" sz="2000" dirty="0"/>
              <a:t> </a:t>
            </a:r>
            <a:endParaRPr lang="pt-BR" sz="2000" dirty="0"/>
          </a:p>
          <a:p>
            <a:pPr marL="342900" lvl="0" indent="-342900"/>
            <a:r>
              <a:rPr lang="pt-PT" sz="2000" dirty="0"/>
              <a:t>2. O relato apresenta o caminho percorrido pelo estudante?</a:t>
            </a:r>
            <a:endParaRPr lang="pt-BR" sz="2000" dirty="0"/>
          </a:p>
          <a:p>
            <a:pPr marL="342900" indent="-342900"/>
            <a:r>
              <a:rPr lang="pt-PT" sz="2000" dirty="0"/>
              <a:t> </a:t>
            </a:r>
            <a:endParaRPr lang="pt-BR" sz="2000" dirty="0"/>
          </a:p>
          <a:p>
            <a:pPr marL="342900" lvl="0" indent="-342900"/>
            <a:r>
              <a:rPr lang="pt-PT" sz="2000" dirty="0"/>
              <a:t>3. As informações contidas no RAV indicam reflexões do(a) professor(a)?</a:t>
            </a:r>
            <a:endParaRPr lang="pt-BR" sz="2000" dirty="0"/>
          </a:p>
          <a:p>
            <a:pPr marL="342900" indent="-342900"/>
            <a:r>
              <a:rPr lang="pt-PT" sz="2000" dirty="0"/>
              <a:t> </a:t>
            </a:r>
            <a:endParaRPr lang="pt-BR" sz="2000" dirty="0"/>
          </a:p>
          <a:p>
            <a:pPr marL="342900" lvl="0" indent="-342900"/>
            <a:r>
              <a:rPr lang="pt-PT" sz="2000" dirty="0"/>
              <a:t>4. As intervenções pedagógicas realizadas pelo(a) professor(a) estão evidenciadas no Rav?</a:t>
            </a:r>
            <a:endParaRPr lang="pt-BR" sz="2000" dirty="0"/>
          </a:p>
          <a:p>
            <a:pPr marL="342900" indent="-342900"/>
            <a:r>
              <a:rPr lang="pt-PT" sz="2000" dirty="0"/>
              <a:t> </a:t>
            </a:r>
            <a:endParaRPr lang="pt-BR" sz="2000" dirty="0"/>
          </a:p>
          <a:p>
            <a:pPr marL="342900" lvl="0" indent="-342900"/>
            <a:r>
              <a:rPr lang="pt-PT" sz="2000" dirty="0"/>
              <a:t>5. Há evidências no registro do(a) professor(a) das contribuições dos projetos/atendimentos (Educação com Movimento, atendimento SEAA, Educação Integral) para as aprendizagens dos estudantes? </a:t>
            </a:r>
            <a:endParaRPr lang="pt-BR" sz="2000" dirty="0"/>
          </a:p>
          <a:p>
            <a:pPr marL="342900" lvl="0" indent="-342900"/>
            <a:r>
              <a:rPr lang="pt-PT" sz="2000" dirty="0"/>
              <a:t>6. Diante das questões acima, que tipo de orientação, você daria para subsidiar o(a) professor(a)</a:t>
            </a:r>
          </a:p>
          <a:p>
            <a:pPr marL="342900" lvl="0" indent="-342900"/>
            <a:r>
              <a:rPr lang="pt-PT" sz="2000" dirty="0"/>
              <a:t>           nessa escrita?</a:t>
            </a:r>
            <a:endParaRPr lang="pt-BR" sz="200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j-ea"/>
                <a:cs typeface="+mj-cs"/>
              </a:rPr>
              <a:t> 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 pitchFamily="34" charset="0"/>
              <a:ea typeface="+mj-ea"/>
              <a:cs typeface="+mj-cs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1095340" y="571480"/>
            <a:ext cx="9829800" cy="78581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Atividade: Roteiro para análise RAV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631504" y="1268760"/>
            <a:ext cx="7315200" cy="30529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b="1" dirty="0">
                <a:solidFill>
                  <a:schemeClr val="tx2"/>
                </a:solidFill>
                <a:latin typeface="Script MT Bold" pitchFamily="66" charset="0"/>
              </a:rPr>
              <a:t>A avaliação praticada nas escolas não fechará os olhos às fragilidades existentes; porém, a que não aponta progressos ou elementos positivos se torna perigosa e desencorajadora.</a:t>
            </a:r>
            <a:br>
              <a:rPr lang="pt-BR" sz="2800" b="1" i="1" dirty="0">
                <a:solidFill>
                  <a:schemeClr val="tx2"/>
                </a:solidFill>
                <a:latin typeface="Script MT Bold" pitchFamily="66" charset="0"/>
              </a:rPr>
            </a:br>
            <a:br>
              <a:rPr lang="pt-BR" sz="2800" b="1" i="1" dirty="0">
                <a:solidFill>
                  <a:schemeClr val="tx2"/>
                </a:solidFill>
                <a:latin typeface="Script MT Bold" pitchFamily="66" charset="0"/>
              </a:rPr>
            </a:br>
            <a:r>
              <a:rPr lang="pt-BR" sz="2400" b="1" dirty="0">
                <a:solidFill>
                  <a:schemeClr val="tx2"/>
                </a:solidFill>
                <a:latin typeface="Script MT Bold" pitchFamily="66" charset="0"/>
              </a:rPr>
              <a:t>Hoffman, 2005</a:t>
            </a:r>
          </a:p>
        </p:txBody>
      </p:sp>
    </p:spTree>
    <p:extLst>
      <p:ext uri="{BB962C8B-B14F-4D97-AF65-F5344CB8AC3E}">
        <p14:creationId xmlns:p14="http://schemas.microsoft.com/office/powerpoint/2010/main" val="67457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52728" y="2500306"/>
            <a:ext cx="6500858" cy="1971676"/>
          </a:xfrm>
        </p:spPr>
        <p:txBody>
          <a:bodyPr>
            <a:noAutofit/>
          </a:bodyPr>
          <a:lstStyle/>
          <a:p>
            <a:pPr algn="ctr"/>
            <a:r>
              <a:rPr lang="pt-BR" sz="3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que forma esta reflexão favoreceu a ampliação do meu olhar sobre os registros e estratégias de intervenções para o avanço das aprendizagens?</a:t>
            </a:r>
            <a:br>
              <a:rPr lang="pt-BR" sz="3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pt-BR" sz="3200" b="1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95274" y="500042"/>
            <a:ext cx="9829800" cy="1082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Avaliação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sp>
        <p:nvSpPr>
          <p:cNvPr id="3" name="Retângulo 2"/>
          <p:cNvSpPr/>
          <p:nvPr/>
        </p:nvSpPr>
        <p:spPr>
          <a:xfrm>
            <a:off x="1023902" y="1857364"/>
            <a:ext cx="1007275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800" b="1" dirty="0">
                <a:solidFill>
                  <a:schemeClr val="tx2"/>
                </a:solidFill>
                <a:latin typeface="Script MT Bold" pitchFamily="66" charset="0"/>
              </a:rPr>
              <a:t>“Contudo, quem espera ter clareza total e segurança máxima para mudar, não quer mudar. Em educação, não há estrada asfaltada. O caminho se faz caminhando e quem vai à frente se espeta. Ou, se preferir ir pela água, vai nadando contra a corrente...”</a:t>
            </a:r>
          </a:p>
          <a:p>
            <a:pPr algn="ctr">
              <a:defRPr/>
            </a:pPr>
            <a:r>
              <a:rPr lang="pt-BR" sz="2400" b="1" dirty="0">
                <a:solidFill>
                  <a:schemeClr val="tx2"/>
                </a:solidFill>
                <a:latin typeface="Script MT Bold" pitchFamily="66" charset="0"/>
              </a:rPr>
              <a:t>(CRUZ, 2005)</a:t>
            </a:r>
          </a:p>
          <a:p>
            <a:pPr algn="ctr">
              <a:defRPr/>
            </a:pPr>
            <a:endParaRPr lang="pt-BR" sz="2800" b="1" dirty="0">
              <a:solidFill>
                <a:schemeClr val="tx2"/>
              </a:solidFill>
              <a:latin typeface="Script MT Bold" pitchFamily="66" charset="0"/>
            </a:endParaRPr>
          </a:p>
          <a:p>
            <a:pPr algn="ctr">
              <a:defRPr/>
            </a:pPr>
            <a:r>
              <a:rPr lang="pt-BR" sz="4400" b="1" dirty="0">
                <a:solidFill>
                  <a:srgbClr val="00B0F0"/>
                </a:solidFill>
                <a:latin typeface="Script MT Bold" pitchFamily="66" charset="0"/>
              </a:rPr>
              <a:t>OBRIGADA!</a:t>
            </a:r>
          </a:p>
          <a:p>
            <a:pPr algn="ctr">
              <a:defRPr/>
            </a:pPr>
            <a:endParaRPr lang="pt-BR" sz="4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Conselho de Classe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31704" y="2780928"/>
            <a:ext cx="5486400" cy="914400"/>
          </a:xfrm>
        </p:spPr>
        <p:txBody>
          <a:bodyPr rtlCol="0"/>
          <a:lstStyle/>
          <a:p>
            <a:pPr rtl="0"/>
            <a:r>
              <a:rPr lang="pt-BR" dirty="0"/>
              <a:t>Formulário 2</a:t>
            </a:r>
          </a:p>
        </p:txBody>
      </p:sp>
    </p:spTree>
    <p:extLst>
      <p:ext uri="{BB962C8B-B14F-4D97-AF65-F5344CB8AC3E}">
        <p14:creationId xmlns:p14="http://schemas.microsoft.com/office/powerpoint/2010/main" val="307328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Vamos Refletir...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75520" y="1556792"/>
            <a:ext cx="9433048" cy="433650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sz="2400" b="1" dirty="0"/>
              <a:t>Concepção de avaliação presente  no conselho.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sz="2400" b="1" dirty="0"/>
              <a:t> Formativa ou Somativa?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sz="2400" b="1" dirty="0"/>
              <a:t> Objetivo(s) do conselho de classe.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sz="2400" b="1" dirty="0"/>
              <a:t> Critério(s) de avaliação utilizado(s).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sz="2400" b="1" dirty="0"/>
              <a:t> Quantas vezes aparece a palavra aprendizagem no                                conselho</a:t>
            </a:r>
            <a:r>
              <a:rPr lang="pt-BR" b="1" dirty="0"/>
              <a:t>?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6487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7368" y="5373216"/>
            <a:ext cx="11305256" cy="864096"/>
          </a:xfrm>
        </p:spPr>
        <p:txBody>
          <a:bodyPr>
            <a:normAutofit/>
          </a:bodyPr>
          <a:lstStyle/>
          <a:p>
            <a:r>
              <a:rPr lang="pt-BR" sz="2700" b="1" dirty="0"/>
              <a:t>Momento privilegiado para a AUTOAVALIAÇÃO da escola. (LIMA, 2012)</a:t>
            </a:r>
            <a:endParaRPr lang="pt-BR" b="1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4"/>
          </p:nvPr>
        </p:nvSpPr>
        <p:spPr>
          <a:xfrm>
            <a:off x="983432" y="1772816"/>
            <a:ext cx="3672408" cy="3888432"/>
          </a:xfrm>
        </p:spPr>
        <p:txBody>
          <a:bodyPr>
            <a:noAutofit/>
          </a:bodyPr>
          <a:lstStyle/>
          <a:p>
            <a:pPr algn="ctr"/>
            <a:r>
              <a:rPr lang="pt-BR" sz="3200" dirty="0">
                <a:solidFill>
                  <a:schemeClr val="accent2">
                    <a:lumMod val="75000"/>
                  </a:schemeClr>
                </a:solidFill>
              </a:rPr>
              <a:t>Espaço de planejamento, organização, avaliação e retomada do PPP.</a:t>
            </a:r>
          </a:p>
          <a:p>
            <a:pPr algn="ctr"/>
            <a:endParaRPr lang="pt-BR" sz="3200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6"/>
          </p:nvPr>
        </p:nvSpPr>
        <p:spPr>
          <a:xfrm>
            <a:off x="5591944" y="1412776"/>
            <a:ext cx="3600400" cy="3384376"/>
          </a:xfrm>
        </p:spPr>
        <p:txBody>
          <a:bodyPr>
            <a:normAutofit/>
          </a:bodyPr>
          <a:lstStyle/>
          <a:p>
            <a:pPr algn="ctr"/>
            <a:r>
              <a:rPr lang="pt-BR" sz="3200" dirty="0">
                <a:solidFill>
                  <a:schemeClr val="accent2">
                    <a:lumMod val="75000"/>
                  </a:schemeClr>
                </a:solidFill>
              </a:rPr>
              <a:t>Entrelaçar-se os três níveis de avaliação:</a:t>
            </a:r>
          </a:p>
          <a:p>
            <a:pPr algn="ctr"/>
            <a:r>
              <a:rPr lang="pt-BR" sz="3200" dirty="0">
                <a:solidFill>
                  <a:schemeClr val="accent2">
                    <a:lumMod val="75000"/>
                  </a:schemeClr>
                </a:solidFill>
              </a:rPr>
              <a:t>aprendizagens, institucional e larga escala</a:t>
            </a:r>
          </a:p>
          <a:p>
            <a:pPr algn="ctr"/>
            <a:endParaRPr lang="pt-BR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4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O que as pesquisam falam...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15480" y="1828800"/>
            <a:ext cx="9252520" cy="426449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defRPr/>
            </a:pPr>
            <a:r>
              <a:rPr lang="pt-BR" sz="2600" b="1" dirty="0">
                <a:cs typeface="Arial" pitchFamily="34" charset="0"/>
              </a:rPr>
              <a:t>Momento ritualizado para aferição de notas.</a:t>
            </a:r>
          </a:p>
          <a:p>
            <a:pPr algn="just">
              <a:lnSpc>
                <a:spcPct val="110000"/>
              </a:lnSpc>
              <a:defRPr/>
            </a:pPr>
            <a:r>
              <a:rPr lang="pt-BR" sz="2600" b="1" dirty="0">
                <a:cs typeface="Arial" pitchFamily="34" charset="0"/>
              </a:rPr>
              <a:t>Ritual limitado à explicitação de notas, conceitos e problemas disciplinares, uma vez que são realizados sem a adoção de procedimentos pedagógicos efetivos e da definição de critérios que orientem para a superação das limitações identificadas no processo de ensino e de aprendizagem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9994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15480" y="1196752"/>
            <a:ext cx="9144000" cy="3474720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cs typeface="Arial" pitchFamily="34" charset="0"/>
              </a:rPr>
              <a:t>Os conselhos de classe não irão avançar enquanto a tônica deles for a exaustiva discussão sobre o comportamento dos alunos, suas indisciplinas, emissão exagerada de juízos de valores, críticas aos comportamentos dos pais ou a suas famílias (Mattos 2005, </a:t>
            </a:r>
            <a:r>
              <a:rPr lang="pt-BR" sz="2400" b="1" dirty="0" err="1">
                <a:cs typeface="Arial" pitchFamily="34" charset="0"/>
              </a:rPr>
              <a:t>Dalben</a:t>
            </a:r>
            <a:r>
              <a:rPr lang="pt-BR" sz="2400" b="1" dirty="0">
                <a:cs typeface="Arial" pitchFamily="34" charset="0"/>
              </a:rPr>
              <a:t> 2004). </a:t>
            </a:r>
          </a:p>
          <a:p>
            <a:pPr algn="ctr"/>
            <a:r>
              <a:rPr lang="pt-BR" sz="2400" b="1" dirty="0">
                <a:cs typeface="Arial" pitchFamily="34" charset="0"/>
              </a:rPr>
              <a:t>Também não será frutífero o jogo de culpados e inocentes. Enquanto cada um dos envolvidos não se reconhecer como parte do trabalho e buscar avaliar o processo pedagógico no conselho de classe, de nada adiantará tanta energia gasta em queixas e desabafos nas repetidas e intermináveis reuniões bimestrais. (Lima 2012).</a:t>
            </a:r>
          </a:p>
          <a:p>
            <a:pPr algn="ctr"/>
            <a:endParaRPr lang="pt-BR" sz="28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0523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Quem deve participar?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1916832"/>
            <a:ext cx="10513168" cy="2736304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BR" sz="2800" b="1" dirty="0"/>
          </a:p>
          <a:p>
            <a:pPr marL="0" indent="0" algn="ctr">
              <a:buNone/>
            </a:pPr>
            <a:r>
              <a:rPr lang="pt-BR" sz="3200" dirty="0"/>
              <a:t>Lei 4.751/2012 reserva ao Conselho de Classe o status de colegiado que comporá com outros os mecanismos de garantia de participação democrática dentro da escola.</a:t>
            </a:r>
            <a:endParaRPr lang="pt-BR" sz="28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8574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1127448" y="837478"/>
            <a:ext cx="24905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</a:rPr>
              <a:t>Docentes de cada turma</a:t>
            </a:r>
          </a:p>
        </p:txBody>
      </p:sp>
      <p:sp>
        <p:nvSpPr>
          <p:cNvPr id="9" name="Retângulo 8"/>
          <p:cNvSpPr/>
          <p:nvPr/>
        </p:nvSpPr>
        <p:spPr>
          <a:xfrm>
            <a:off x="1135155" y="2924944"/>
            <a:ext cx="24905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92D050"/>
                </a:solidFill>
              </a:rPr>
              <a:t>*Equipe gestora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048277" y="4951555"/>
            <a:ext cx="2664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70C0"/>
                </a:solidFill>
              </a:rPr>
              <a:t>*Especialistas em educação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719602" y="4581128"/>
            <a:ext cx="42484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7030A0"/>
                </a:solidFill>
              </a:rPr>
              <a:t>*Pais ou responsáveis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692696"/>
            <a:ext cx="40895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C000"/>
                </a:solidFill>
              </a:rPr>
              <a:t>*Carreira assistência à educação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044449" y="1791585"/>
            <a:ext cx="3600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2">
                    <a:lumMod val="25000"/>
                  </a:schemeClr>
                </a:solidFill>
              </a:rPr>
              <a:t>*Serviço de apoio especializado</a:t>
            </a:r>
          </a:p>
        </p:txBody>
      </p:sp>
    </p:spTree>
    <p:extLst>
      <p:ext uri="{BB962C8B-B14F-4D97-AF65-F5344CB8AC3E}">
        <p14:creationId xmlns:p14="http://schemas.microsoft.com/office/powerpoint/2010/main" val="21038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Como deve ser?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1628800"/>
            <a:ext cx="10513168" cy="2736304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BR" sz="2800" b="1" dirty="0"/>
          </a:p>
          <a:p>
            <a:pPr marL="0" indent="0" algn="ctr">
              <a:buNone/>
            </a:pPr>
            <a:r>
              <a:rPr lang="pt-BR" sz="3200" dirty="0"/>
              <a:t>Devem estar voltadas para a reflexão sobre o trabalho pedagógico da unidade escolar.</a:t>
            </a:r>
          </a:p>
          <a:p>
            <a:pPr marL="0" indent="0" algn="ctr">
              <a:buNone/>
            </a:pPr>
            <a:r>
              <a:rPr lang="pt-BR" sz="3200" dirty="0"/>
              <a:t>Deve ser feito por bimestre, individualizado e nos campos destinados.</a:t>
            </a:r>
            <a:endParaRPr lang="pt-BR" sz="28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3235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1424" y="5229200"/>
            <a:ext cx="9649072" cy="1152128"/>
          </a:xfrm>
        </p:spPr>
        <p:txBody>
          <a:bodyPr>
            <a:normAutofit/>
          </a:bodyPr>
          <a:lstStyle/>
          <a:p>
            <a:r>
              <a:rPr lang="pt-BR" sz="2800" b="1" dirty="0"/>
              <a:t>Refletir sobre: índices de desempenho, espaço da coordenação pedagógica, projetos e demais atividades.</a:t>
            </a: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794765849"/>
              </p:ext>
            </p:extLst>
          </p:nvPr>
        </p:nvGraphicFramePr>
        <p:xfrm>
          <a:off x="-240704" y="1268760"/>
          <a:ext cx="6008216" cy="3285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2963507867"/>
              </p:ext>
            </p:extLst>
          </p:nvPr>
        </p:nvGraphicFramePr>
        <p:xfrm>
          <a:off x="4583832" y="1340768"/>
          <a:ext cx="5504160" cy="3357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1315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911424" y="1344906"/>
            <a:ext cx="35283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000" b="1" dirty="0">
                <a:solidFill>
                  <a:srgbClr val="00B050"/>
                </a:solidFill>
                <a:ea typeface="Batang" pitchFamily="18" charset="-127"/>
              </a:rPr>
              <a:t>Instância avaliativa informativa: </a:t>
            </a:r>
          </a:p>
          <a:p>
            <a:pPr algn="ctr">
              <a:defRPr/>
            </a:pPr>
            <a:endParaRPr lang="pt-BR" sz="2000" dirty="0">
              <a:solidFill>
                <a:srgbClr val="00B050"/>
              </a:solidFill>
              <a:ea typeface="Batang" pitchFamily="18" charset="-127"/>
            </a:endParaRPr>
          </a:p>
          <a:p>
            <a:pPr algn="ctr">
              <a:defRPr/>
            </a:pPr>
            <a:r>
              <a:rPr lang="pt-BR" sz="2000" dirty="0">
                <a:ea typeface="Batang" pitchFamily="18" charset="-127"/>
              </a:rPr>
              <a:t>    O objetivo é promover momentos de reflexão, de modo que haja harmonia entre o que se planeja e o que se faz, a fim de que a organização pedagógica seja constantemente revista.</a:t>
            </a:r>
            <a:endParaRPr lang="pt-BR" sz="2000" dirty="0"/>
          </a:p>
        </p:txBody>
      </p:sp>
      <p:sp>
        <p:nvSpPr>
          <p:cNvPr id="8" name="Retângulo 7"/>
          <p:cNvSpPr/>
          <p:nvPr/>
        </p:nvSpPr>
        <p:spPr>
          <a:xfrm>
            <a:off x="5546102" y="1191017"/>
            <a:ext cx="371824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000" b="1" dirty="0">
                <a:solidFill>
                  <a:srgbClr val="00B0F0"/>
                </a:solidFill>
                <a:ea typeface="Batang" pitchFamily="18" charset="-127"/>
              </a:rPr>
              <a:t>Instância avaliativa máxima: </a:t>
            </a:r>
          </a:p>
          <a:p>
            <a:pPr algn="ctr">
              <a:defRPr/>
            </a:pPr>
            <a:endParaRPr lang="pt-BR" sz="2000" b="1" dirty="0">
              <a:solidFill>
                <a:srgbClr val="00B0F0"/>
              </a:solidFill>
              <a:ea typeface="Batang" pitchFamily="18" charset="-127"/>
            </a:endParaRPr>
          </a:p>
          <a:p>
            <a:pPr algn="ctr">
              <a:defRPr/>
            </a:pPr>
            <a:r>
              <a:rPr lang="pt-BR" sz="2000" dirty="0">
                <a:ea typeface="Batang" pitchFamily="18" charset="-127"/>
              </a:rPr>
              <a:t>    Promover momentos de análise, reflexão e construção conjunta e crítica de práticas avaliativas que estejam voltadas para a inclusão e a aprendizagem, promovendo o desenvolvimento de todos os sujeitos envolvidos no processo educativo.</a:t>
            </a:r>
          </a:p>
        </p:txBody>
      </p:sp>
    </p:spTree>
    <p:extLst>
      <p:ext uri="{BB962C8B-B14F-4D97-AF65-F5344CB8AC3E}">
        <p14:creationId xmlns:p14="http://schemas.microsoft.com/office/powerpoint/2010/main" val="185641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852533" y="1263243"/>
            <a:ext cx="3744416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400" b="1" dirty="0">
                <a:ea typeface="Batang" pitchFamily="18" charset="-127"/>
              </a:rPr>
              <a:t> </a:t>
            </a:r>
            <a:r>
              <a:rPr lang="pt-BR" sz="2000" b="1" dirty="0">
                <a:solidFill>
                  <a:srgbClr val="7030A0"/>
                </a:solidFill>
                <a:ea typeface="Batang" pitchFamily="18" charset="-127"/>
              </a:rPr>
              <a:t>Instância avaliativa </a:t>
            </a:r>
          </a:p>
          <a:p>
            <a:pPr algn="ctr">
              <a:defRPr/>
            </a:pPr>
            <a:r>
              <a:rPr lang="pt-BR" sz="2000" b="1" dirty="0">
                <a:solidFill>
                  <a:srgbClr val="7030A0"/>
                </a:solidFill>
                <a:ea typeface="Batang" pitchFamily="18" charset="-127"/>
              </a:rPr>
              <a:t>deliberativa: </a:t>
            </a:r>
          </a:p>
          <a:p>
            <a:pPr algn="ctr">
              <a:defRPr/>
            </a:pPr>
            <a:endParaRPr lang="pt-BR" sz="2000" b="1" dirty="0">
              <a:solidFill>
                <a:srgbClr val="FFFF00"/>
              </a:solidFill>
              <a:ea typeface="Batang" pitchFamily="18" charset="-127"/>
            </a:endParaRPr>
          </a:p>
          <a:p>
            <a:pPr algn="ctr">
              <a:defRPr/>
            </a:pPr>
            <a:r>
              <a:rPr lang="pt-BR" sz="2000" b="1" dirty="0">
                <a:ea typeface="Batang" pitchFamily="18" charset="-127"/>
              </a:rPr>
              <a:t>    Cabe ao conselho de classe examinar, discutir, decidir, meditar, consultar, ponderar e resolver as situações levadas para os encontros.</a:t>
            </a:r>
          </a:p>
          <a:p>
            <a:pPr algn="ctr">
              <a:defRPr/>
            </a:pP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303912" y="1261552"/>
            <a:ext cx="396043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Batang" pitchFamily="18" charset="-127"/>
              </a:rPr>
              <a:t> Instância avaliativa promotora: </a:t>
            </a:r>
          </a:p>
          <a:p>
            <a:pPr algn="ctr">
              <a:lnSpc>
                <a:spcPct val="150000"/>
              </a:lnSpc>
              <a:defRPr/>
            </a:pPr>
            <a:endParaRPr lang="pt-BR" sz="2000" b="1" dirty="0">
              <a:solidFill>
                <a:srgbClr val="FFFF00"/>
              </a:solidFill>
              <a:ea typeface="Batang" pitchFamily="18" charset="-127"/>
            </a:endParaRPr>
          </a:p>
          <a:p>
            <a:pPr algn="ctr">
              <a:lnSpc>
                <a:spcPct val="110000"/>
              </a:lnSpc>
              <a:spcBef>
                <a:spcPts val="24"/>
              </a:spcBef>
              <a:defRPr/>
            </a:pPr>
            <a:r>
              <a:rPr lang="pt-BR" sz="2000" b="1" dirty="0">
                <a:ea typeface="Batang" pitchFamily="18" charset="-127"/>
              </a:rPr>
              <a:t>   Cabe ao conselho contribuir para o desenvolvimento das aprendizagens de estudantes e professores e, consequentemente, para a construção da verdadeira escola democrática.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57007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911424" y="1108043"/>
            <a:ext cx="374441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400" b="1" dirty="0">
                <a:solidFill>
                  <a:srgbClr val="7030A0"/>
                </a:solidFill>
                <a:ea typeface="Batang" pitchFamily="18" charset="-127"/>
              </a:rPr>
              <a:t>Instância avaliativa promotora: </a:t>
            </a:r>
          </a:p>
          <a:p>
            <a:pPr algn="ctr">
              <a:defRPr/>
            </a:pPr>
            <a:endParaRPr lang="pt-BR" sz="2000" b="1" dirty="0">
              <a:solidFill>
                <a:srgbClr val="7030A0"/>
              </a:solidFill>
              <a:ea typeface="Batang" pitchFamily="18" charset="-127"/>
            </a:endParaRPr>
          </a:p>
          <a:p>
            <a:pPr algn="ctr">
              <a:lnSpc>
                <a:spcPct val="110000"/>
              </a:lnSpc>
              <a:spcBef>
                <a:spcPts val="24"/>
              </a:spcBef>
              <a:defRPr/>
            </a:pPr>
            <a:r>
              <a:rPr lang="pt-BR" sz="2000" b="1" dirty="0">
                <a:ea typeface="Batang" pitchFamily="18" charset="-127"/>
              </a:rPr>
              <a:t>   Cabe ao conselho contribuir para o desenvolvimento das aprendizagens de estudantes e professores e, consequentemente, para a construção da verdadeira escola democrática.</a:t>
            </a:r>
          </a:p>
        </p:txBody>
      </p:sp>
      <p:sp>
        <p:nvSpPr>
          <p:cNvPr id="8" name="Retângulo 7"/>
          <p:cNvSpPr/>
          <p:nvPr/>
        </p:nvSpPr>
        <p:spPr>
          <a:xfrm>
            <a:off x="5472337" y="1132856"/>
            <a:ext cx="3720007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lnSpc>
                <a:spcPct val="150000"/>
              </a:lnSpc>
              <a:spcBef>
                <a:spcPct val="20000"/>
              </a:spcBef>
              <a:spcAft>
                <a:spcPts val="400"/>
              </a:spcAft>
              <a:defRPr/>
            </a:pPr>
            <a:r>
              <a:rPr lang="pt-BR" sz="2000" b="1" dirty="0">
                <a:solidFill>
                  <a:srgbClr val="0070C0"/>
                </a:solidFill>
                <a:ea typeface="Batang" pitchFamily="18" charset="-127"/>
              </a:rPr>
              <a:t>A avaliação formativa transforma o conselho de classe em um aliado para a organização e a reorganização do trabalho pedagógico comprometido com a inserção social dos sujeitos. </a:t>
            </a:r>
          </a:p>
        </p:txBody>
      </p:sp>
    </p:spTree>
    <p:extLst>
      <p:ext uri="{BB962C8B-B14F-4D97-AF65-F5344CB8AC3E}">
        <p14:creationId xmlns:p14="http://schemas.microsoft.com/office/powerpoint/2010/main" val="353216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600" b="1" dirty="0">
                <a:solidFill>
                  <a:srgbClr val="C00000"/>
                </a:solidFill>
              </a:rPr>
              <a:t>Como preencher?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484784"/>
            <a:ext cx="3192059" cy="468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620688"/>
            <a:ext cx="3705225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9542674" y="2708920"/>
            <a:ext cx="2487462" cy="1461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Observações quanto à composição da turma. </a:t>
            </a:r>
          </a:p>
        </p:txBody>
      </p:sp>
    </p:spTree>
    <p:extLst>
      <p:ext uri="{BB962C8B-B14F-4D97-AF65-F5344CB8AC3E}">
        <p14:creationId xmlns:p14="http://schemas.microsoft.com/office/powerpoint/2010/main" val="294028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765538" y="3224335"/>
            <a:ext cx="2443030" cy="1872208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2000" dirty="0"/>
              <a:t> Relacionar com os objetivos traçados e o alcance deles. 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51384" y="620688"/>
            <a:ext cx="3672408" cy="3960440"/>
          </a:xfrm>
        </p:spPr>
        <p:txBody>
          <a:bodyPr rtlCol="0">
            <a:normAutofit lnSpcReduction="10000"/>
          </a:bodyPr>
          <a:lstStyle/>
          <a:p>
            <a:pPr algn="ctr"/>
            <a:r>
              <a:rPr lang="pt-BR" sz="2000" dirty="0">
                <a:solidFill>
                  <a:srgbClr val="0070C0"/>
                </a:solidFill>
              </a:rPr>
              <a:t>AVALIAÇÃO DE APRENDIZAGEM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</a:rPr>
              <a:t>Você professor, deverá estar atento ao trabalho pedagógico da unidade escolar, trazendo à reunião todos os envolvidos nesse processo. Recomendamos a você que se prepare para esse momento, no sentido de sistematizar as informações que serão socializadas. Utilize, dentre outros registros, o Formulário 1-Descrição do Processo de Aprendizagem de Estudante e o Diário de Classe.</a:t>
            </a:r>
          </a:p>
          <a:p>
            <a:pPr rtl="0"/>
            <a:endParaRPr lang="pt-BR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40" y="476672"/>
            <a:ext cx="4109698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773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1785169" y="6381328"/>
            <a:ext cx="4572000" cy="365125"/>
          </a:xfrm>
        </p:spPr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44" y="404664"/>
            <a:ext cx="3617614" cy="504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1631504" y="3068960"/>
            <a:ext cx="3816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Preencher cada unidade desse campo com os quantitativos solicitados e relacioná-los às ações e atividades desenvolvidas pela unidade escolar, de maneira reflexiva, durante os bimestres. </a:t>
            </a:r>
          </a:p>
        </p:txBody>
      </p:sp>
    </p:spTree>
    <p:extLst>
      <p:ext uri="{BB962C8B-B14F-4D97-AF65-F5344CB8AC3E}">
        <p14:creationId xmlns:p14="http://schemas.microsoft.com/office/powerpoint/2010/main" val="309357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287372"/>
            <a:ext cx="3528392" cy="496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79" y="332656"/>
            <a:ext cx="3792091" cy="521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335360" y="1338983"/>
            <a:ext cx="27363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Avaliará e registrará, em que medida as ações previstas (projetos, eventos, reagrupamentos, entre outros) pelo PPP contribuíram para atingir os objetivos de aprendizagem previstos para cada ano.</a:t>
            </a:r>
          </a:p>
        </p:txBody>
      </p:sp>
    </p:spTree>
    <p:extLst>
      <p:ext uri="{BB962C8B-B14F-4D97-AF65-F5344CB8AC3E}">
        <p14:creationId xmlns:p14="http://schemas.microsoft.com/office/powerpoint/2010/main" val="18750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504390" y="5589239"/>
            <a:ext cx="7272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+mj-lt"/>
              </a:rPr>
              <a:t>Centro de Referência para os Anos Inicias</a:t>
            </a:r>
          </a:p>
          <a:p>
            <a:pPr algn="ctr"/>
            <a:r>
              <a:rPr lang="pt-BR" sz="2800" b="1" dirty="0">
                <a:latin typeface="+mj-lt"/>
              </a:rPr>
              <a:t>CRAI – Recanto das Emas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2639616" y="551451"/>
            <a:ext cx="748883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800" b="1" dirty="0">
                <a:solidFill>
                  <a:schemeClr val="tx2"/>
                </a:solidFill>
                <a:latin typeface="Script MT Bold" pitchFamily="66" charset="0"/>
              </a:rPr>
              <a:t>“Contudo, quem espera ter clareza total e segurança máxima para mudar, não quer mudar. Em educação, não há estrada asfaltada. O caminho se faz caminhando e quem vai à frente se espeta. Ou, se preferir ir pela água, vai nadando contra a corrente...”</a:t>
            </a:r>
          </a:p>
          <a:p>
            <a:pPr algn="ctr">
              <a:defRPr/>
            </a:pPr>
            <a:endParaRPr lang="pt-BR" sz="2800" b="1" dirty="0">
              <a:solidFill>
                <a:schemeClr val="tx2"/>
              </a:solidFill>
              <a:latin typeface="Script MT Bold" pitchFamily="66" charset="0"/>
            </a:endParaRPr>
          </a:p>
          <a:p>
            <a:pPr algn="ctr">
              <a:defRPr/>
            </a:pPr>
            <a:r>
              <a:rPr lang="pt-BR" sz="2400" b="1" dirty="0">
                <a:solidFill>
                  <a:schemeClr val="tx2"/>
                </a:solidFill>
                <a:latin typeface="Script MT Bold" pitchFamily="66" charset="0"/>
              </a:rPr>
              <a:t>(CRUZ, 2005)</a:t>
            </a:r>
          </a:p>
          <a:p>
            <a:pPr algn="ctr">
              <a:defRPr/>
            </a:pPr>
            <a:endParaRPr lang="pt-BR" sz="2400" b="1" dirty="0">
              <a:latin typeface="Script MT Bold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Trabalho em Grupo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b="1" dirty="0"/>
              <a:t>Roteiro para Atividade: RAV;</a:t>
            </a:r>
          </a:p>
          <a:p>
            <a:r>
              <a:rPr lang="pt-BR" sz="2400" b="1" dirty="0"/>
              <a:t>Relatórios;</a:t>
            </a:r>
          </a:p>
          <a:p>
            <a:r>
              <a:rPr lang="pt-BR" sz="2400" b="1" dirty="0"/>
              <a:t>Leitura e análise;</a:t>
            </a:r>
          </a:p>
          <a:p>
            <a:r>
              <a:rPr lang="pt-BR" sz="2400" b="1" dirty="0"/>
              <a:t>Respostas:</a:t>
            </a:r>
          </a:p>
          <a:p>
            <a:pPr marL="0" lvl="0" indent="0">
              <a:buNone/>
            </a:pPr>
            <a:r>
              <a:rPr lang="pt-BR" sz="2400" b="1" dirty="0"/>
              <a:t>A: </a:t>
            </a:r>
            <a:r>
              <a:rPr lang="pt-PT" sz="2400" b="1" dirty="0"/>
              <a:t>Registro das aprendizagens e interferências pedagógicas realizadas pelo(a) professor(a);</a:t>
            </a:r>
            <a:endParaRPr lang="pt-BR" sz="2400" b="1" dirty="0"/>
          </a:p>
          <a:p>
            <a:r>
              <a:rPr lang="pt-BR" sz="2400" b="1" dirty="0"/>
              <a:t>Socialização.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9740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408" y="-25153"/>
            <a:ext cx="9829800" cy="1082674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47528" y="1124744"/>
            <a:ext cx="9721080" cy="4752528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  <a:buNone/>
              <a:defRPr/>
            </a:pPr>
            <a:r>
              <a:rPr lang="pt-BR" sz="2400" b="1" dirty="0" err="1"/>
              <a:t>Dalben</a:t>
            </a:r>
            <a:r>
              <a:rPr lang="pt-BR" sz="2400" b="1" dirty="0"/>
              <a:t>, </a:t>
            </a:r>
            <a:r>
              <a:rPr lang="pt-BR" sz="2400" dirty="0"/>
              <a:t>A. I. L de F. Conselhos de Classe e Avaliação: Perspectivas na gestão pedagógica da escola.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dirty="0"/>
              <a:t>Campinas, SP: Papirus, 2004.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b="1" dirty="0"/>
              <a:t>Distrito Federal, </a:t>
            </a:r>
            <a:r>
              <a:rPr lang="pt-BR" sz="2400" dirty="0"/>
              <a:t>Brasil. Secretaria de Estado de Educação do Distrito Federal – SEDF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dirty="0"/>
              <a:t>Subsecretaria de Educação Básica – SUBEB –Diretrizes de Avaliação Educacional.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b="1" dirty="0"/>
              <a:t>Leite</a:t>
            </a:r>
            <a:r>
              <a:rPr lang="pt-BR" sz="2400" dirty="0"/>
              <a:t>, Lilian I. Conselho de Classe: Objeto de Estudos Multifacetado?</a:t>
            </a:r>
            <a:r>
              <a:rPr lang="pt-BR" sz="2400" b="1" i="1" dirty="0"/>
              <a:t> </a:t>
            </a:r>
            <a:r>
              <a:rPr lang="pt-BR" sz="2400" dirty="0"/>
              <a:t>(artigo).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b="1" dirty="0"/>
              <a:t>Lima</a:t>
            </a:r>
            <a:r>
              <a:rPr lang="pt-BR" sz="2400" dirty="0"/>
              <a:t>, E. S. O diretor e as avaliações praticadas na escola. Brasília: Editora </a:t>
            </a:r>
            <a:r>
              <a:rPr lang="pt-BR" sz="2400" dirty="0" err="1"/>
              <a:t>Kiron</a:t>
            </a:r>
            <a:r>
              <a:rPr lang="pt-BR" sz="2400" dirty="0"/>
              <a:t>, 2012.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dirty="0"/>
              <a:t> </a:t>
            </a:r>
            <a:r>
              <a:rPr lang="pt-BR" sz="2400" b="1" dirty="0"/>
              <a:t>Mattos</a:t>
            </a:r>
            <a:r>
              <a:rPr lang="pt-BR" sz="2400" dirty="0"/>
              <a:t>, Carmen L. G. de. O conselho de classe e a construção do fracasso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dirty="0"/>
              <a:t> escolar</a:t>
            </a:r>
            <a:r>
              <a:rPr lang="pt-BR" sz="2400" b="1" dirty="0"/>
              <a:t> </a:t>
            </a:r>
            <a:r>
              <a:rPr lang="pt-BR" sz="2400" dirty="0"/>
              <a:t>. Educação e Pesquisa, São Paulo, v.31. n.2 p.215-228, maio/ago. 2005.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b="1" dirty="0"/>
              <a:t> Villas Boas</a:t>
            </a:r>
            <a:r>
              <a:rPr lang="pt-BR" sz="2400" dirty="0"/>
              <a:t>, Benigna Maria de Freitas. Projeto de intervenção na escola: mantendo as</a:t>
            </a:r>
          </a:p>
          <a:p>
            <a:pPr algn="just">
              <a:lnSpc>
                <a:spcPct val="120000"/>
              </a:lnSpc>
              <a:buNone/>
              <a:defRPr/>
            </a:pPr>
            <a:r>
              <a:rPr lang="pt-BR" sz="2400" dirty="0"/>
              <a:t>aprendizagens em dia.  Campinas: Papirus, 2010.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CRAI - TAGUATINGA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292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f03896101">
  <a:themeElements>
    <a:clrScheme name="ChildrenFriends">
      <a:dk1>
        <a:srgbClr val="404040"/>
      </a:dk1>
      <a:lt1>
        <a:sysClr val="window" lastClr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246115_TF03896101.potx" id="{89497A73-0C88-4195-8A38-43AAC8638EE2}" vid="{E6B5ECC8-341F-41AB-B193-AACEAE7B9011}"/>
    </a:ext>
  </a:extLst>
</a:theme>
</file>

<file path=ppt/theme/theme2.xml><?xml version="1.0" encoding="utf-8"?>
<a:theme xmlns:a="http://schemas.openxmlformats.org/drawingml/2006/main" name="Tema do Office">
  <a:themeElements>
    <a:clrScheme name="ChildrenFriends">
      <a:dk1>
        <a:srgbClr val="404040"/>
      </a:dk1>
      <a:lt1>
        <a:sysClr val="window" lastClr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ChildrenFriends">
      <a:dk1>
        <a:srgbClr val="404040"/>
      </a:dk1>
      <a:lt1>
        <a:sysClr val="window" lastClr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A15C6C-6BB6-4DB6-B7D6-7F14EAB2CC5C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a4f35948-e619-41b3-aa29-22878b09cfd2"/>
    <ds:schemaRef ds:uri="http://schemas.microsoft.com/office/infopath/2007/PartnerControls"/>
    <ds:schemaRef ds:uri="40262f94-9f35-4ac3-9a90-690165a166b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A369AEE-D726-45B1-ACA9-0D6048C368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DF6667-B669-49A4-BBE6-2132BA71C0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tf03896101</Template>
  <TotalTime>709</TotalTime>
  <Words>2003</Words>
  <Application>Microsoft Office PowerPoint</Application>
  <PresentationFormat>Widescreen</PresentationFormat>
  <Paragraphs>216</Paragraphs>
  <Slides>38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Batang</vt:lpstr>
      <vt:lpstr>Arial</vt:lpstr>
      <vt:lpstr>Candara</vt:lpstr>
      <vt:lpstr>Script MT Bold</vt:lpstr>
      <vt:lpstr>Times New Roman</vt:lpstr>
      <vt:lpstr>tf03896101</vt:lpstr>
      <vt:lpstr>RAV </vt:lpstr>
      <vt:lpstr>Leitura Deleite</vt:lpstr>
      <vt:lpstr>De que forma as aprendizagens evidenciadas são registradas?</vt:lpstr>
      <vt:lpstr>RAV – REGISTRO DE AVALIÃÇÃO</vt:lpstr>
      <vt:lpstr>O professor registra a análise das aprendizagens e do desenvolvimento do estudante dos Anos Inicias. </vt:lpstr>
      <vt:lpstr>Descrição do Processo de Aprendizagem do Estudante</vt:lpstr>
      <vt:lpstr>Apresentação do PowerPoint</vt:lpstr>
      <vt:lpstr>Nos registros das aprendizagens são contempladas as reflexões...</vt:lpstr>
      <vt:lpstr>O que deve apresentar?</vt:lpstr>
      <vt:lpstr>Tem caráter dinâmico, não se limita à atribuição de conceitos  </vt:lpstr>
      <vt:lpstr>Apresentação do PowerPoint</vt:lpstr>
      <vt:lpstr>O que NÃO deve apresentar?</vt:lpstr>
      <vt:lpstr>Situações que NÃO sirvam para qualificar o processo de ensino aprendizagem.</vt:lpstr>
      <vt:lpstr> Como preencher? </vt:lpstr>
      <vt:lpstr>Apresentação do PowerPoint</vt:lpstr>
      <vt:lpstr>Apresentação do PowerPoint</vt:lpstr>
      <vt:lpstr>Apresentação do PowerPoint</vt:lpstr>
      <vt:lpstr>De que forma esta reflexão favoreceu a ampliação do meu olhar sobre os registros e estratégias de intervenções para o avanço das aprendizagens? </vt:lpstr>
      <vt:lpstr>Apresentação do PowerPoint</vt:lpstr>
      <vt:lpstr>Conselho de Classe</vt:lpstr>
      <vt:lpstr>Vamos Refletir...</vt:lpstr>
      <vt:lpstr>Momento privilegiado para a AUTOAVALIAÇÃO da escola. (LIMA, 2012)</vt:lpstr>
      <vt:lpstr>O que as pesquisam falam...</vt:lpstr>
      <vt:lpstr>Apresentação do PowerPoint</vt:lpstr>
      <vt:lpstr>Quem deve participar?</vt:lpstr>
      <vt:lpstr>Apresentação do PowerPoint</vt:lpstr>
      <vt:lpstr>Como deve ser?</vt:lpstr>
      <vt:lpstr>Refletir sobre: índices de desempenho, espaço da coordenação pedagógica, projetos e demais atividades.</vt:lpstr>
      <vt:lpstr>Apresentação do PowerPoint</vt:lpstr>
      <vt:lpstr>Apresentação do PowerPoint</vt:lpstr>
      <vt:lpstr>Apresentação do PowerPoint</vt:lpstr>
      <vt:lpstr>Como preencher?</vt:lpstr>
      <vt:lpstr>Apresentação do PowerPoint</vt:lpstr>
      <vt:lpstr>Apresentação do PowerPoint</vt:lpstr>
      <vt:lpstr>Apresentação do PowerPoint</vt:lpstr>
      <vt:lpstr>Apresentação do PowerPoint</vt:lpstr>
      <vt:lpstr>Trabalho em Grupo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do título</dc:title>
  <dc:creator>user</dc:creator>
  <cp:lastModifiedBy>ADM</cp:lastModifiedBy>
  <cp:revision>28</cp:revision>
  <dcterms:created xsi:type="dcterms:W3CDTF">2018-01-30T18:15:03Z</dcterms:created>
  <dcterms:modified xsi:type="dcterms:W3CDTF">2026-06-16T14:36:22Z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TC038961019991</vt:lpwstr>
  </property>
  <property fmtid="{D5CDD505-2E9C-101B-9397-08002B2CF9AE}" pid="3" name="ContentTypeId">
    <vt:lpwstr>0x010100AA3F7D94069FF64A86F7DFF56D60E3BE</vt:lpwstr>
  </property>
</Properties>
</file>